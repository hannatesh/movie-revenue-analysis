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7" r:id="rId4"/>
    <p:sldMasterId id="214748370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Gowun Batang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GowunBatang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font" Target="fonts/GowunBatang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b2d0d5f181_1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b2d0d5f181_1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b2d0d5f181_1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b2d0d5f181_1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Focusing on revenue, we look at age, budget, languages, release time, and more to try and solve these questions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b2d0d5f181_1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b2d0d5f181_1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b2d0d5f181_1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b2d0d5f181_1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b2d0d5f181_1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b2d0d5f181_1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map: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b2d0d5f181_1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b2d0d5f181_1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b2d0d5f181_1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b2d0d5f181_1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b2d0d5f181_1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b2d0d5f181_1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b2d0d5f181_1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b2d0d5f181_1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b2d0d5f181_1_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b2d0d5f181_1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b2f99b64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b2f99b64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b2f99b640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b2f99b640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b2f99b640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b2f99b640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b2f99b640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b2f99b640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2fc0f56d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b2fc0f56d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Industry structure matters. Revenue outcomes are strongly influenced by </a:t>
            </a:r>
            <a:r>
              <a:rPr b="1" lang="en">
                <a:solidFill>
                  <a:schemeClr val="dk1"/>
                </a:solidFill>
              </a:rPr>
              <a:t>studio type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scale of production collaboration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b="1" lang="en">
                <a:solidFill>
                  <a:schemeClr val="dk1"/>
                </a:solidFill>
              </a:rPr>
              <a:t>country concentration</a:t>
            </a:r>
            <a:r>
              <a:rPr lang="en">
                <a:solidFill>
                  <a:schemeClr val="dk1"/>
                </a:solidFill>
              </a:rPr>
              <a:t>, with major studios and U.S.-based productions dominating global box office performance.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scatter plot shows a </a:t>
            </a:r>
            <a:r>
              <a:rPr b="1" lang="en">
                <a:solidFill>
                  <a:schemeClr val="dk1"/>
                </a:solidFill>
              </a:rPr>
              <a:t>weak but positive relationship</a:t>
            </a:r>
            <a:r>
              <a:rPr lang="en">
                <a:solidFill>
                  <a:schemeClr val="dk1"/>
                </a:solidFill>
              </a:rPr>
              <a:t> between the number of production companies involved in a film and its revenue.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Most movies are produced by </a:t>
            </a:r>
            <a:r>
              <a:rPr b="1" lang="en">
                <a:solidFill>
                  <a:schemeClr val="dk1"/>
                </a:solidFill>
              </a:rPr>
              <a:t>1–5 companies</a:t>
            </a:r>
            <a:r>
              <a:rPr lang="en">
                <a:solidFill>
                  <a:schemeClr val="dk1"/>
                </a:solidFill>
              </a:rPr>
              <a:t>, and these exhibit </a:t>
            </a:r>
            <a:r>
              <a:rPr b="1" lang="en">
                <a:solidFill>
                  <a:schemeClr val="dk1"/>
                </a:solidFill>
              </a:rPr>
              <a:t>wide revenue dispersion</a:t>
            </a:r>
            <a:r>
              <a:rPr lang="en">
                <a:solidFill>
                  <a:schemeClr val="dk1"/>
                </a:solidFill>
              </a:rPr>
              <a:t>, including both low- and high-performing films.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Movies involving </a:t>
            </a:r>
            <a:r>
              <a:rPr b="1" lang="en">
                <a:solidFill>
                  <a:schemeClr val="dk1"/>
                </a:solidFill>
              </a:rPr>
              <a:t>larger production consortia (10+ companies)</a:t>
            </a:r>
            <a:r>
              <a:rPr lang="en">
                <a:solidFill>
                  <a:schemeClr val="dk1"/>
                </a:solidFill>
              </a:rPr>
              <a:t> tend to achieve </a:t>
            </a:r>
            <a:r>
              <a:rPr b="1" lang="en">
                <a:solidFill>
                  <a:schemeClr val="dk1"/>
                </a:solidFill>
              </a:rPr>
              <a:t>higher average revenues</a:t>
            </a:r>
            <a:r>
              <a:rPr lang="en">
                <a:solidFill>
                  <a:schemeClr val="dk1"/>
                </a:solidFill>
              </a:rPr>
              <a:t>, suggesting benefits from pooled resources, risk sharing, and broader distribution access.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However, variance remains high, indicating that </a:t>
            </a:r>
            <a:r>
              <a:rPr b="1" lang="en">
                <a:solidFill>
                  <a:schemeClr val="dk1"/>
                </a:solidFill>
              </a:rPr>
              <a:t>collaboration alone does not guarantee success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scatter plot shows a </a:t>
            </a:r>
            <a:r>
              <a:rPr b="1" lang="en">
                <a:solidFill>
                  <a:schemeClr val="dk1"/>
                </a:solidFill>
              </a:rPr>
              <a:t>weak but positive relationship</a:t>
            </a:r>
            <a:r>
              <a:rPr lang="en">
                <a:solidFill>
                  <a:schemeClr val="dk1"/>
                </a:solidFill>
              </a:rPr>
              <a:t> between the number of production companies involved in a film and its revenue.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Most movies are produced by </a:t>
            </a:r>
            <a:r>
              <a:rPr b="1" lang="en">
                <a:solidFill>
                  <a:schemeClr val="dk1"/>
                </a:solidFill>
              </a:rPr>
              <a:t>1–5 companies</a:t>
            </a:r>
            <a:r>
              <a:rPr lang="en">
                <a:solidFill>
                  <a:schemeClr val="dk1"/>
                </a:solidFill>
              </a:rPr>
              <a:t>, and these exhibit </a:t>
            </a:r>
            <a:r>
              <a:rPr b="1" lang="en">
                <a:solidFill>
                  <a:schemeClr val="dk1"/>
                </a:solidFill>
              </a:rPr>
              <a:t>wide revenue dispersion</a:t>
            </a:r>
            <a:r>
              <a:rPr lang="en">
                <a:solidFill>
                  <a:schemeClr val="dk1"/>
                </a:solidFill>
              </a:rPr>
              <a:t>, including both low- and high-performing films.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Movies involving </a:t>
            </a:r>
            <a:r>
              <a:rPr b="1" lang="en">
                <a:solidFill>
                  <a:schemeClr val="dk1"/>
                </a:solidFill>
              </a:rPr>
              <a:t>larger production consortia (10+ companies)</a:t>
            </a:r>
            <a:r>
              <a:rPr lang="en">
                <a:solidFill>
                  <a:schemeClr val="dk1"/>
                </a:solidFill>
              </a:rPr>
              <a:t> tend to achieve </a:t>
            </a:r>
            <a:r>
              <a:rPr b="1" lang="en">
                <a:solidFill>
                  <a:schemeClr val="dk1"/>
                </a:solidFill>
              </a:rPr>
              <a:t>higher average revenues</a:t>
            </a:r>
            <a:r>
              <a:rPr lang="en">
                <a:solidFill>
                  <a:schemeClr val="dk1"/>
                </a:solidFill>
              </a:rPr>
              <a:t>, suggesting benefits from pooled resources, risk sharing, and broader distribution access.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However, variance remains high, indicating that </a:t>
            </a:r>
            <a:r>
              <a:rPr b="1" lang="en">
                <a:solidFill>
                  <a:schemeClr val="dk1"/>
                </a:solidFill>
              </a:rPr>
              <a:t>collaboration alone does not guarantee success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country analysis highlights strong </a:t>
            </a:r>
            <a:r>
              <a:rPr b="1" lang="en">
                <a:solidFill>
                  <a:schemeClr val="dk1"/>
                </a:solidFill>
              </a:rPr>
              <a:t>geographic concentration</a:t>
            </a:r>
            <a:r>
              <a:rPr lang="en">
                <a:solidFill>
                  <a:schemeClr val="dk1"/>
                </a:solidFill>
              </a:rPr>
              <a:t> in film production and revenue: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United States</a:t>
            </a:r>
            <a:r>
              <a:rPr lang="en">
                <a:solidFill>
                  <a:schemeClr val="dk1"/>
                </a:solidFill>
              </a:rPr>
              <a:t> overwhelmingly leads in both </a:t>
            </a:r>
            <a:r>
              <a:rPr b="1" lang="en">
                <a:solidFill>
                  <a:schemeClr val="dk1"/>
                </a:solidFill>
              </a:rPr>
              <a:t>movie count and total revenue</a:t>
            </a:r>
            <a:r>
              <a:rPr lang="en">
                <a:solidFill>
                  <a:schemeClr val="dk1"/>
                </a:solidFill>
              </a:rPr>
              <a:t>, reinforcing its central role in the global film industry.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Other major producers (Japan, France, UK, Germany) contribute meaningfully but at </a:t>
            </a:r>
            <a:r>
              <a:rPr b="1" lang="en">
                <a:solidFill>
                  <a:schemeClr val="dk1"/>
                </a:solidFill>
              </a:rPr>
              <a:t>significantly lower revenue scales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Emerging markets show production activity but </a:t>
            </a:r>
            <a:r>
              <a:rPr b="1" lang="en">
                <a:solidFill>
                  <a:schemeClr val="dk1"/>
                </a:solidFill>
              </a:rPr>
              <a:t>limited revenue impact</a:t>
            </a:r>
            <a:r>
              <a:rPr lang="en">
                <a:solidFill>
                  <a:schemeClr val="dk1"/>
                </a:solidFill>
              </a:rPr>
              <a:t>, indicating unequal access to global distribution and monetization.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demonstrates that </a:t>
            </a:r>
            <a:r>
              <a:rPr b="1" lang="en">
                <a:solidFill>
                  <a:schemeClr val="dk1"/>
                </a:solidFill>
              </a:rPr>
              <a:t>revenue is not evenly distributed across the film industry</a:t>
            </a:r>
            <a:r>
              <a:rPr lang="en">
                <a:solidFill>
                  <a:schemeClr val="dk1"/>
                </a:solidFill>
              </a:rPr>
              <a:t>. Instead, it is concentrated among: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major studios</a:t>
            </a:r>
            <a:r>
              <a:rPr lang="en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high-collaboration productions</a:t>
            </a:r>
            <a:r>
              <a:rPr lang="en">
                <a:solidFill>
                  <a:schemeClr val="dk1"/>
                </a:solidFill>
              </a:rPr>
              <a:t>, and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U.S.-centric production ecosystems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structural imbalance helps explain why a small subset of films captures a disproportionate share of global box office revenue.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b2fc0f56de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b2fc0f56de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b2fc0f56de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b2fc0f56de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Pre-release popularity is strongly associated with higher revenue, while increasing the number of spoken languages does </a:t>
            </a:r>
            <a:r>
              <a:rPr b="1" lang="en">
                <a:solidFill>
                  <a:schemeClr val="dk1"/>
                </a:solidFill>
              </a:rPr>
              <a:t>not</a:t>
            </a:r>
            <a:r>
              <a:rPr lang="en">
                <a:solidFill>
                  <a:schemeClr val="dk1"/>
                </a:solidFill>
              </a:rPr>
              <a:t> guarantee higher box office performance and may reflect market fragmentation rather than global reach.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Pre-release popularity is strongly associated with higher revenue, while increasing the number of spoken languages does </a:t>
            </a:r>
            <a:r>
              <a:rPr b="1" lang="en">
                <a:solidFill>
                  <a:schemeClr val="dk1"/>
                </a:solidFill>
              </a:rPr>
              <a:t>not</a:t>
            </a:r>
            <a:r>
              <a:rPr lang="en">
                <a:solidFill>
                  <a:schemeClr val="dk1"/>
                </a:solidFill>
              </a:rPr>
              <a:t> guarantee higher box office performance and may reflect market fragmentation rather than global reach.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bar chart bins movies by the </a:t>
            </a:r>
            <a:r>
              <a:rPr b="1" lang="en">
                <a:solidFill>
                  <a:schemeClr val="dk1"/>
                </a:solidFill>
              </a:rPr>
              <a:t>number of spoken languages</a:t>
            </a:r>
            <a:r>
              <a:rPr lang="en">
                <a:solidFill>
                  <a:schemeClr val="dk1"/>
                </a:solidFill>
              </a:rPr>
              <a:t> and compares total revenue.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Movies with </a:t>
            </a:r>
            <a:r>
              <a:rPr b="1" lang="en">
                <a:solidFill>
                  <a:schemeClr val="dk1"/>
                </a:solidFill>
              </a:rPr>
              <a:t>fewer spoken languages (1–2)</a:t>
            </a:r>
            <a:r>
              <a:rPr lang="en">
                <a:solidFill>
                  <a:schemeClr val="dk1"/>
                </a:solidFill>
              </a:rPr>
              <a:t> account for the </a:t>
            </a:r>
            <a:r>
              <a:rPr b="1" lang="en">
                <a:solidFill>
                  <a:schemeClr val="dk1"/>
                </a:solidFill>
              </a:rPr>
              <a:t>largest share of total revenue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 the number of spoken languages increases, </a:t>
            </a:r>
            <a:r>
              <a:rPr b="1" lang="en">
                <a:solidFill>
                  <a:schemeClr val="dk1"/>
                </a:solidFill>
              </a:rPr>
              <a:t>total revenue declines steadily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Multilingual films are far less common and do </a:t>
            </a:r>
            <a:r>
              <a:rPr b="1" lang="en">
                <a:solidFill>
                  <a:schemeClr val="dk1"/>
                </a:solidFill>
              </a:rPr>
              <a:t>not consistently outperform</a:t>
            </a:r>
            <a:r>
              <a:rPr lang="en">
                <a:solidFill>
                  <a:schemeClr val="dk1"/>
                </a:solidFill>
              </a:rPr>
              <a:t> single-language productions.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Spoken Languages vs Revenue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bar chart bins movies by the </a:t>
            </a:r>
            <a:r>
              <a:rPr b="1" lang="en">
                <a:solidFill>
                  <a:schemeClr val="dk1"/>
                </a:solidFill>
              </a:rPr>
              <a:t>number of spoken languages</a:t>
            </a:r>
            <a:r>
              <a:rPr lang="en">
                <a:solidFill>
                  <a:schemeClr val="dk1"/>
                </a:solidFill>
              </a:rPr>
              <a:t> and compares total revenue.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Movies with </a:t>
            </a:r>
            <a:r>
              <a:rPr b="1" lang="en">
                <a:solidFill>
                  <a:schemeClr val="dk1"/>
                </a:solidFill>
              </a:rPr>
              <a:t>fewer spoken languages (1–2)</a:t>
            </a:r>
            <a:r>
              <a:rPr lang="en">
                <a:solidFill>
                  <a:schemeClr val="dk1"/>
                </a:solidFill>
              </a:rPr>
              <a:t> account for the </a:t>
            </a:r>
            <a:r>
              <a:rPr b="1" lang="en">
                <a:solidFill>
                  <a:schemeClr val="dk1"/>
                </a:solidFill>
              </a:rPr>
              <a:t>largest share of total revenue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 the number of spoken languages increases, </a:t>
            </a:r>
            <a:r>
              <a:rPr b="1" lang="en">
                <a:solidFill>
                  <a:schemeClr val="dk1"/>
                </a:solidFill>
              </a:rPr>
              <a:t>total revenue declines steadily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Multilingual films are far less common and do </a:t>
            </a:r>
            <a:r>
              <a:rPr b="1" lang="en">
                <a:solidFill>
                  <a:schemeClr val="dk1"/>
                </a:solidFill>
              </a:rPr>
              <a:t>not consistently outperform</a:t>
            </a:r>
            <a:r>
              <a:rPr lang="en">
                <a:solidFill>
                  <a:schemeClr val="dk1"/>
                </a:solidFill>
              </a:rPr>
              <a:t> single-language productions.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suggests that adding spoken languages may reflect </a:t>
            </a:r>
            <a:r>
              <a:rPr b="1" lang="en">
                <a:solidFill>
                  <a:schemeClr val="dk1"/>
                </a:solidFill>
              </a:rPr>
              <a:t>local adaptations or niche targeting</a:t>
            </a:r>
            <a:r>
              <a:rPr lang="en">
                <a:solidFill>
                  <a:schemeClr val="dk1"/>
                </a:solidFill>
              </a:rPr>
              <a:t>, rather than a strategy that reliably increases global revenue.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suggests that adding spoken languages may reflect </a:t>
            </a:r>
            <a:r>
              <a:rPr b="1" lang="en">
                <a:solidFill>
                  <a:schemeClr val="dk1"/>
                </a:solidFill>
              </a:rPr>
              <a:t>local adaptations or niche targeting</a:t>
            </a:r>
            <a:r>
              <a:rPr lang="en">
                <a:solidFill>
                  <a:schemeClr val="dk1"/>
                </a:solidFill>
              </a:rPr>
              <a:t>, rather than a strategy that reliably increases global revenue.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</a:t>
            </a:r>
            <a:r>
              <a:rPr b="1" lang="en">
                <a:solidFill>
                  <a:schemeClr val="dk1"/>
                </a:solidFill>
              </a:rPr>
              <a:t>demand signals matter more than breadth signals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Popularity</a:t>
            </a:r>
            <a:r>
              <a:rPr lang="en">
                <a:solidFill>
                  <a:schemeClr val="dk1"/>
                </a:solidFill>
              </a:rPr>
              <a:t> is a strong and consistent predictor of higher revenue.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Language diversification alone</a:t>
            </a:r>
            <a:r>
              <a:rPr lang="en">
                <a:solidFill>
                  <a:schemeClr val="dk1"/>
                </a:solidFill>
              </a:rPr>
              <a:t> does not translate into commercial success and may dilute focus rather than expand market reach.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Together, these results indicate that </a:t>
            </a:r>
            <a:r>
              <a:rPr b="1" lang="en">
                <a:solidFill>
                  <a:schemeClr val="dk1"/>
                </a:solidFill>
              </a:rPr>
              <a:t>effective marketing and audience anticipation outweigh content localization</a:t>
            </a:r>
            <a:r>
              <a:rPr lang="en">
                <a:solidFill>
                  <a:schemeClr val="dk1"/>
                </a:solidFill>
              </a:rPr>
              <a:t> in driving box office outcomes.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b2fc0f56de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b2fc0f56de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b2d0d5f181_1_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b2d0d5f181_1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b2d0d5f181_1_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b2d0d5f181_1_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d2cb7832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d2cb7832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b2d0d5f181_1_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b2d0d5f181_1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with header and footer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2286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2" type="body"/>
          </p:nvPr>
        </p:nvSpPr>
        <p:spPr>
          <a:xfrm>
            <a:off x="2286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4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60" name="Google Shape;60;p14"/>
          <p:cNvSpPr txBox="1"/>
          <p:nvPr>
            <p:ph idx="4" type="body"/>
          </p:nvPr>
        </p:nvSpPr>
        <p:spPr>
          <a:xfrm>
            <a:off x="24003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5" type="body"/>
          </p:nvPr>
        </p:nvSpPr>
        <p:spPr>
          <a:xfrm>
            <a:off x="24003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6" type="body"/>
          </p:nvPr>
        </p:nvSpPr>
        <p:spPr>
          <a:xfrm>
            <a:off x="45720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7" type="body"/>
          </p:nvPr>
        </p:nvSpPr>
        <p:spPr>
          <a:xfrm>
            <a:off x="67437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5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68" name="Google Shape;68;p1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228600" y="2866225"/>
            <a:ext cx="62328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2286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74" name="Google Shape;74;p1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7"/>
          <p:cNvSpPr txBox="1"/>
          <p:nvPr>
            <p:ph idx="1" type="subTitle"/>
          </p:nvPr>
        </p:nvSpPr>
        <p:spPr>
          <a:xfrm>
            <a:off x="228600" y="167750"/>
            <a:ext cx="5257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79" name="Google Shape;79;p17"/>
          <p:cNvCxnSpPr/>
          <p:nvPr/>
        </p:nvCxnSpPr>
        <p:spPr>
          <a:xfrm>
            <a:off x="228600" y="478125"/>
            <a:ext cx="868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3456">
          <p15:clr>
            <a:srgbClr val="E46962"/>
          </p15:clr>
        </p15:guide>
        <p15:guide id="2" pos="475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ate sheet" type="tx">
  <p:cSld name="TITLE_AND_BOD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18"/>
          <p:cNvSpPr txBox="1"/>
          <p:nvPr>
            <p:ph type="title"/>
          </p:nvPr>
        </p:nvSpPr>
        <p:spPr>
          <a:xfrm>
            <a:off x="229450" y="164350"/>
            <a:ext cx="8686800" cy="4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2" type="subTitle"/>
          </p:nvPr>
        </p:nvSpPr>
        <p:spPr>
          <a:xfrm>
            <a:off x="2286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86" name="Google Shape;86;p18"/>
          <p:cNvSpPr txBox="1"/>
          <p:nvPr>
            <p:ph idx="3" type="subTitle"/>
          </p:nvPr>
        </p:nvSpPr>
        <p:spPr>
          <a:xfrm>
            <a:off x="32079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87" name="Google Shape;87;p18"/>
          <p:cNvSpPr txBox="1"/>
          <p:nvPr>
            <p:ph idx="4" type="subTitle"/>
          </p:nvPr>
        </p:nvSpPr>
        <p:spPr>
          <a:xfrm>
            <a:off x="61872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88" name="Google Shape;88;p1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ith footer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2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94" name="Google Shape;94;p19"/>
          <p:cNvSpPr txBox="1"/>
          <p:nvPr>
            <p:ph idx="3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4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96" name="Google Shape;96;p19"/>
          <p:cNvSpPr txBox="1"/>
          <p:nvPr>
            <p:ph idx="5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6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98" name="Google Shape;98;p19"/>
          <p:cNvSpPr txBox="1"/>
          <p:nvPr>
            <p:ph idx="7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99" name="Google Shape;99;p1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ITLE_AND_TWO_COLUMNS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20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2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105" name="Google Shape;105;p20"/>
          <p:cNvSpPr txBox="1"/>
          <p:nvPr>
            <p:ph idx="3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4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107" name="Google Shape;107;p20"/>
          <p:cNvSpPr txBox="1"/>
          <p:nvPr>
            <p:ph idx="5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6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109" name="Google Shape;109;p2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TITLE_AND_TWO_COLUMNS_1_2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1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13" name="Google Shape;113;p2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24003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2" type="body"/>
          </p:nvPr>
        </p:nvSpPr>
        <p:spPr>
          <a:xfrm>
            <a:off x="2286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3" type="body"/>
          </p:nvPr>
        </p:nvSpPr>
        <p:spPr>
          <a:xfrm>
            <a:off x="45720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4" type="body"/>
          </p:nvPr>
        </p:nvSpPr>
        <p:spPr>
          <a:xfrm>
            <a:off x="67437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5" type="subTitle"/>
          </p:nvPr>
        </p:nvSpPr>
        <p:spPr>
          <a:xfrm>
            <a:off x="22945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119" name="Google Shape;119;p21"/>
          <p:cNvSpPr txBox="1"/>
          <p:nvPr>
            <p:ph idx="6" type="subTitle"/>
          </p:nvPr>
        </p:nvSpPr>
        <p:spPr>
          <a:xfrm>
            <a:off x="24003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120" name="Google Shape;120;p21"/>
          <p:cNvSpPr txBox="1"/>
          <p:nvPr>
            <p:ph idx="7" type="subTitle"/>
          </p:nvPr>
        </p:nvSpPr>
        <p:spPr>
          <a:xfrm>
            <a:off x="45720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121" name="Google Shape;121;p21"/>
          <p:cNvSpPr txBox="1"/>
          <p:nvPr>
            <p:ph idx="8" type="subTitle"/>
          </p:nvPr>
        </p:nvSpPr>
        <p:spPr>
          <a:xfrm>
            <a:off x="67437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TITLE_AND_TWO_COLUMNS_1_2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2"/>
          <p:cNvSpPr txBox="1"/>
          <p:nvPr>
            <p:ph type="title"/>
          </p:nvPr>
        </p:nvSpPr>
        <p:spPr>
          <a:xfrm>
            <a:off x="229450" y="164350"/>
            <a:ext cx="5541900" cy="18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125" name="Google Shape;125;p2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228600" y="2448075"/>
            <a:ext cx="55419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27" name="Google Shape;127;p22"/>
          <p:cNvSpPr txBox="1"/>
          <p:nvPr>
            <p:ph idx="2" type="subTitle"/>
          </p:nvPr>
        </p:nvSpPr>
        <p:spPr>
          <a:xfrm>
            <a:off x="228600" y="1798275"/>
            <a:ext cx="55419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ITLE_AND_TWO_COLUMNS_1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3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2294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2" name="Google Shape;132;p23"/>
          <p:cNvSpPr txBox="1"/>
          <p:nvPr>
            <p:ph idx="2" type="subTitle"/>
          </p:nvPr>
        </p:nvSpPr>
        <p:spPr>
          <a:xfrm>
            <a:off x="2294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133" name="Google Shape;133;p2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23"/>
          <p:cNvSpPr txBox="1"/>
          <p:nvPr>
            <p:ph idx="3" type="body"/>
          </p:nvPr>
        </p:nvSpPr>
        <p:spPr>
          <a:xfrm>
            <a:off x="4573675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5" name="Google Shape;135;p23"/>
          <p:cNvSpPr txBox="1"/>
          <p:nvPr>
            <p:ph idx="4" type="subTitle"/>
          </p:nvPr>
        </p:nvSpPr>
        <p:spPr>
          <a:xfrm>
            <a:off x="4573675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ody text">
  <p:cSld name="CUSTOM_3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5095525" y="922175"/>
            <a:ext cx="3440100" cy="12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8" name="Google Shape;138;p2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24"/>
          <p:cNvSpPr txBox="1"/>
          <p:nvPr>
            <p:ph idx="2" type="body"/>
          </p:nvPr>
        </p:nvSpPr>
        <p:spPr>
          <a:xfrm>
            <a:off x="5095525" y="2801100"/>
            <a:ext cx="34401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40" name="Google Shape;140;p24"/>
          <p:cNvSpPr txBox="1"/>
          <p:nvPr>
            <p:ph idx="3" type="body"/>
          </p:nvPr>
        </p:nvSpPr>
        <p:spPr>
          <a:xfrm>
            <a:off x="5095525" y="4013575"/>
            <a:ext cx="3440100" cy="53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41" name="Google Shape;141;p24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42" name="Google Shape;142;p2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 type="titleOnly">
  <p:cSld name="TITLE_ONL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5"/>
          <p:cNvSpPr txBox="1"/>
          <p:nvPr>
            <p:ph type="title"/>
          </p:nvPr>
        </p:nvSpPr>
        <p:spPr>
          <a:xfrm>
            <a:off x="229450" y="164350"/>
            <a:ext cx="8686800" cy="3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2286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47" name="Google Shape;147;p25"/>
          <p:cNvSpPr txBox="1"/>
          <p:nvPr>
            <p:ph idx="2" type="body"/>
          </p:nvPr>
        </p:nvSpPr>
        <p:spPr>
          <a:xfrm>
            <a:off x="24003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48" name="Google Shape;148;p25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49" name="Google Shape;149;p25"/>
          <p:cNvSpPr txBox="1"/>
          <p:nvPr>
            <p:ph idx="4" type="body"/>
          </p:nvPr>
        </p:nvSpPr>
        <p:spPr>
          <a:xfrm>
            <a:off x="67437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50" name="Google Shape;150;p25"/>
          <p:cNvSpPr txBox="1"/>
          <p:nvPr>
            <p:ph idx="5" type="body"/>
          </p:nvPr>
        </p:nvSpPr>
        <p:spPr>
          <a:xfrm>
            <a:off x="45720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51" name="Google Shape;151;p2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 text">
  <p:cSld name="TITLE_ONLY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3701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55" name="Google Shape;155;p26"/>
          <p:cNvSpPr txBox="1"/>
          <p:nvPr>
            <p:ph idx="2" type="body"/>
          </p:nvPr>
        </p:nvSpPr>
        <p:spPr>
          <a:xfrm>
            <a:off x="2541453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56" name="Google Shape;156;p26"/>
          <p:cNvSpPr txBox="1"/>
          <p:nvPr>
            <p:ph idx="3" type="body"/>
          </p:nvPr>
        </p:nvSpPr>
        <p:spPr>
          <a:xfrm>
            <a:off x="4713154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57" name="Google Shape;157;p26"/>
          <p:cNvSpPr txBox="1"/>
          <p:nvPr>
            <p:ph idx="4" type="body"/>
          </p:nvPr>
        </p:nvSpPr>
        <p:spPr>
          <a:xfrm>
            <a:off x="6884852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58" name="Google Shape;158;p26"/>
          <p:cNvSpPr txBox="1"/>
          <p:nvPr>
            <p:ph idx="5" type="subTitle"/>
          </p:nvPr>
        </p:nvSpPr>
        <p:spPr>
          <a:xfrm>
            <a:off x="37010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59" name="Google Shape;159;p26"/>
          <p:cNvSpPr txBox="1"/>
          <p:nvPr>
            <p:ph idx="6" type="subTitle"/>
          </p:nvPr>
        </p:nvSpPr>
        <p:spPr>
          <a:xfrm>
            <a:off x="254145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0" name="Google Shape;160;p26"/>
          <p:cNvSpPr txBox="1"/>
          <p:nvPr>
            <p:ph idx="7" type="subTitle"/>
          </p:nvPr>
        </p:nvSpPr>
        <p:spPr>
          <a:xfrm>
            <a:off x="471280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1" name="Google Shape;161;p26"/>
          <p:cNvSpPr txBox="1"/>
          <p:nvPr>
            <p:ph idx="8" type="subTitle"/>
          </p:nvPr>
        </p:nvSpPr>
        <p:spPr>
          <a:xfrm>
            <a:off x="688415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2" name="Google Shape;162;p26"/>
          <p:cNvSpPr txBox="1"/>
          <p:nvPr>
            <p:ph idx="9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63" name="Google Shape;163;p2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ONLY_1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7"/>
          <p:cNvSpPr txBox="1"/>
          <p:nvPr>
            <p:ph idx="1" type="subTitle"/>
          </p:nvPr>
        </p:nvSpPr>
        <p:spPr>
          <a:xfrm>
            <a:off x="145680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7" name="Google Shape;167;p27"/>
          <p:cNvSpPr txBox="1"/>
          <p:nvPr>
            <p:ph idx="2" type="subTitle"/>
          </p:nvPr>
        </p:nvSpPr>
        <p:spPr>
          <a:xfrm>
            <a:off x="362815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8" name="Google Shape;168;p27"/>
          <p:cNvSpPr txBox="1"/>
          <p:nvPr>
            <p:ph idx="3" type="subTitle"/>
          </p:nvPr>
        </p:nvSpPr>
        <p:spPr>
          <a:xfrm>
            <a:off x="579950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9" name="Google Shape;169;p27"/>
          <p:cNvSpPr txBox="1"/>
          <p:nvPr>
            <p:ph idx="4" type="subTitle"/>
          </p:nvPr>
        </p:nvSpPr>
        <p:spPr>
          <a:xfrm>
            <a:off x="579950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170" name="Google Shape;170;p2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7"/>
          <p:cNvSpPr txBox="1"/>
          <p:nvPr>
            <p:ph idx="5" type="subTitle"/>
          </p:nvPr>
        </p:nvSpPr>
        <p:spPr>
          <a:xfrm>
            <a:off x="145680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6" type="subTitle"/>
          </p:nvPr>
        </p:nvSpPr>
        <p:spPr>
          <a:xfrm>
            <a:off x="362815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73" name="Google Shape;173;p27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">
  <p:cSld name="CUSTOM_5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24003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2" type="body"/>
          </p:nvPr>
        </p:nvSpPr>
        <p:spPr>
          <a:xfrm>
            <a:off x="2286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77" name="Google Shape;177;p2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28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79" name="Google Shape;179;p28"/>
          <p:cNvSpPr txBox="1"/>
          <p:nvPr>
            <p:ph idx="3" type="body"/>
          </p:nvPr>
        </p:nvSpPr>
        <p:spPr>
          <a:xfrm>
            <a:off x="45720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80" name="Google Shape;180;p28"/>
          <p:cNvSpPr txBox="1"/>
          <p:nvPr>
            <p:ph idx="4" type="body"/>
          </p:nvPr>
        </p:nvSpPr>
        <p:spPr>
          <a:xfrm>
            <a:off x="67437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81" name="Google Shape;181;p28"/>
          <p:cNvSpPr txBox="1"/>
          <p:nvPr>
            <p:ph idx="5" type="subTitle"/>
          </p:nvPr>
        </p:nvSpPr>
        <p:spPr>
          <a:xfrm>
            <a:off x="4572000" y="1585625"/>
            <a:ext cx="40611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82" name="Google Shape;182;p28"/>
          <p:cNvSpPr txBox="1"/>
          <p:nvPr>
            <p:ph idx="6" type="subTitle"/>
          </p:nvPr>
        </p:nvSpPr>
        <p:spPr>
          <a:xfrm>
            <a:off x="228600" y="1585625"/>
            <a:ext cx="40611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83" name="Google Shape;183;p28"/>
          <p:cNvSpPr txBox="1"/>
          <p:nvPr>
            <p:ph idx="7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84" name="Google Shape;184;p2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footer">
  <p:cSld name="CUSTOM"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/>
          </p:nvPr>
        </p:nvSpPr>
        <p:spPr>
          <a:xfrm>
            <a:off x="225750" y="369625"/>
            <a:ext cx="8692500" cy="431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" name="Google Shape;187;p2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29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89" name="Google Shape;189;p2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CUSTOM_10"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225750" y="369625"/>
            <a:ext cx="8692500" cy="431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2" name="Google Shape;192;p30"/>
          <p:cNvSpPr txBox="1"/>
          <p:nvPr>
            <p:ph idx="2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3" name="Google Shape;193;p3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4" name="Google Shape;194;p3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6"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>
            <p:ph type="title"/>
          </p:nvPr>
        </p:nvSpPr>
        <p:spPr>
          <a:xfrm>
            <a:off x="225750" y="1212350"/>
            <a:ext cx="8692500" cy="347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7" name="Google Shape;197;p3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99" name="Google Shape;199;p3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31"/>
          <p:cNvCxnSpPr/>
          <p:nvPr/>
        </p:nvCxnSpPr>
        <p:spPr>
          <a:xfrm flipH="1" rot="10800000">
            <a:off x="225750" y="12123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with footer">
  <p:cSld name="CUSTOM_7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32"/>
          <p:cNvSpPr txBox="1"/>
          <p:nvPr>
            <p:ph type="title"/>
          </p:nvPr>
        </p:nvSpPr>
        <p:spPr>
          <a:xfrm>
            <a:off x="228600" y="665825"/>
            <a:ext cx="57534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4" name="Google Shape;204;p32"/>
          <p:cNvSpPr/>
          <p:nvPr>
            <p:ph idx="2" type="pic"/>
          </p:nvPr>
        </p:nvSpPr>
        <p:spPr>
          <a:xfrm>
            <a:off x="6777063" y="1017650"/>
            <a:ext cx="1582800" cy="15828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32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06" name="Google Shape;206;p3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7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33"/>
          <p:cNvSpPr/>
          <p:nvPr/>
        </p:nvSpPr>
        <p:spPr>
          <a:xfrm>
            <a:off x="7005675" y="789050"/>
            <a:ext cx="1582800" cy="1582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3"/>
          <p:cNvSpPr txBox="1"/>
          <p:nvPr>
            <p:ph type="title"/>
          </p:nvPr>
        </p:nvSpPr>
        <p:spPr>
          <a:xfrm>
            <a:off x="228600" y="665825"/>
            <a:ext cx="57534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p33"/>
          <p:cNvSpPr/>
          <p:nvPr>
            <p:ph idx="2" type="pic"/>
          </p:nvPr>
        </p:nvSpPr>
        <p:spPr>
          <a:xfrm>
            <a:off x="6777063" y="1017650"/>
            <a:ext cx="1582800" cy="1582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12" name="Google Shape;212;p3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CUSTOM_8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34"/>
          <p:cNvSpPr txBox="1"/>
          <p:nvPr>
            <p:ph type="title"/>
          </p:nvPr>
        </p:nvSpPr>
        <p:spPr>
          <a:xfrm>
            <a:off x="228600" y="1549575"/>
            <a:ext cx="7938000" cy="22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" name="Google Shape;216;p34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17" name="Google Shape;217;p3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8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0" name="Google Shape;220;p3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35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8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4" name="Google Shape;224;p3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36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with footer">
  <p:cSld name="ONE_COLUMN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" name="Google Shape;228;p37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29" name="Google Shape;229;p37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30" name="Google Shape;230;p37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31" name="Google Shape;231;p3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ONE_COLUMN_TEXT_2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4" name="Google Shape;234;p38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35" name="Google Shape;235;p38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236" name="Google Shape;236;p3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ONE_COLUMN_TEXT_1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9"/>
          <p:cNvSpPr txBox="1"/>
          <p:nvPr>
            <p:ph type="title"/>
          </p:nvPr>
        </p:nvSpPr>
        <p:spPr>
          <a:xfrm>
            <a:off x="228600" y="2089772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40" name="Google Shape;240;p39"/>
          <p:cNvSpPr txBox="1"/>
          <p:nvPr>
            <p:ph idx="1" type="subTitle"/>
          </p:nvPr>
        </p:nvSpPr>
        <p:spPr>
          <a:xfrm>
            <a:off x="6074275" y="1004700"/>
            <a:ext cx="25587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41" name="Google Shape;241;p39"/>
          <p:cNvSpPr txBox="1"/>
          <p:nvPr>
            <p:ph idx="2" type="subTitle"/>
          </p:nvPr>
        </p:nvSpPr>
        <p:spPr>
          <a:xfrm>
            <a:off x="4292700" y="1004700"/>
            <a:ext cx="16710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1pPr>
            <a:lvl2pPr lvl="1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2pPr>
            <a:lvl3pPr lvl="2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3pPr>
            <a:lvl4pPr lvl="3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4pPr>
            <a:lvl5pPr lvl="4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5pPr>
            <a:lvl6pPr lvl="5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6pPr>
            <a:lvl7pPr lvl="6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7pPr>
            <a:lvl8pPr lvl="7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8pPr>
            <a:lvl9pPr lvl="8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9pPr>
          </a:lstStyle>
          <a:p/>
        </p:txBody>
      </p:sp>
      <p:sp>
        <p:nvSpPr>
          <p:cNvPr id="242" name="Google Shape;242;p39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43" name="Google Shape;243;p3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footer">
  <p:cSld name="CUSTOM_4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40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47" name="Google Shape;247;p40"/>
          <p:cNvSpPr txBox="1"/>
          <p:nvPr>
            <p:ph idx="1" type="body"/>
          </p:nvPr>
        </p:nvSpPr>
        <p:spPr>
          <a:xfrm>
            <a:off x="2294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8" name="Google Shape;248;p40"/>
          <p:cNvSpPr txBox="1"/>
          <p:nvPr>
            <p:ph idx="2" type="body"/>
          </p:nvPr>
        </p:nvSpPr>
        <p:spPr>
          <a:xfrm>
            <a:off x="45728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9" name="Google Shape;249;p40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50" name="Google Shape;250;p4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4_1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41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54" name="Google Shape;254;p41"/>
          <p:cNvSpPr txBox="1"/>
          <p:nvPr>
            <p:ph idx="1" type="body"/>
          </p:nvPr>
        </p:nvSpPr>
        <p:spPr>
          <a:xfrm>
            <a:off x="2294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55" name="Google Shape;255;p41"/>
          <p:cNvSpPr txBox="1"/>
          <p:nvPr>
            <p:ph idx="2" type="body"/>
          </p:nvPr>
        </p:nvSpPr>
        <p:spPr>
          <a:xfrm>
            <a:off x="45728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56" name="Google Shape;256;p4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mage boards">
  <p:cSld name="CUSTOM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42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60" name="Google Shape;260;p42"/>
          <p:cNvSpPr/>
          <p:nvPr>
            <p:ph idx="2" type="pic"/>
          </p:nvPr>
        </p:nvSpPr>
        <p:spPr>
          <a:xfrm>
            <a:off x="228600" y="1870200"/>
            <a:ext cx="20244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42"/>
          <p:cNvSpPr/>
          <p:nvPr>
            <p:ph idx="3" type="pic"/>
          </p:nvPr>
        </p:nvSpPr>
        <p:spPr>
          <a:xfrm>
            <a:off x="3864875" y="1870200"/>
            <a:ext cx="35619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42"/>
          <p:cNvSpPr/>
          <p:nvPr>
            <p:ph idx="4" type="pic"/>
          </p:nvPr>
        </p:nvSpPr>
        <p:spPr>
          <a:xfrm>
            <a:off x="7547700" y="1870200"/>
            <a:ext cx="13677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42"/>
          <p:cNvSpPr/>
          <p:nvPr>
            <p:ph idx="5" type="pic"/>
          </p:nvPr>
        </p:nvSpPr>
        <p:spPr>
          <a:xfrm>
            <a:off x="2375088" y="1870200"/>
            <a:ext cx="13677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2"/>
          <p:cNvSpPr txBox="1"/>
          <p:nvPr>
            <p:ph idx="6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5" name="Google Shape;265;p42"/>
          <p:cNvSpPr txBox="1"/>
          <p:nvPr>
            <p:ph idx="7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66" name="Google Shape;266;p4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 boards">
  <p:cSld name="CUSTOM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43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70" name="Google Shape;270;p43"/>
          <p:cNvSpPr/>
          <p:nvPr>
            <p:ph idx="2" type="pic"/>
          </p:nvPr>
        </p:nvSpPr>
        <p:spPr>
          <a:xfrm>
            <a:off x="2286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43"/>
          <p:cNvSpPr/>
          <p:nvPr>
            <p:ph idx="3" type="pic"/>
          </p:nvPr>
        </p:nvSpPr>
        <p:spPr>
          <a:xfrm>
            <a:off x="31618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72" name="Google Shape;272;p43"/>
          <p:cNvSpPr/>
          <p:nvPr>
            <p:ph idx="4" type="pic"/>
          </p:nvPr>
        </p:nvSpPr>
        <p:spPr>
          <a:xfrm>
            <a:off x="60950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43"/>
          <p:cNvSpPr txBox="1"/>
          <p:nvPr>
            <p:ph idx="5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74" name="Google Shape;274;p43"/>
          <p:cNvSpPr txBox="1"/>
          <p:nvPr>
            <p:ph idx="6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75" name="Google Shape;275;p4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boards">
  <p:cSld name="CUSTOM_1_1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44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79" name="Google Shape;279;p44"/>
          <p:cNvSpPr/>
          <p:nvPr>
            <p:ph idx="2" type="pic"/>
          </p:nvPr>
        </p:nvSpPr>
        <p:spPr>
          <a:xfrm>
            <a:off x="4633050" y="1617150"/>
            <a:ext cx="42825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44"/>
          <p:cNvSpPr/>
          <p:nvPr>
            <p:ph idx="3" type="pic"/>
          </p:nvPr>
        </p:nvSpPr>
        <p:spPr>
          <a:xfrm>
            <a:off x="228600" y="1617150"/>
            <a:ext cx="42825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44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82" name="Google Shape;282;p44"/>
          <p:cNvSpPr txBox="1"/>
          <p:nvPr>
            <p:ph idx="5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83" name="Google Shape;283;p4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boards vertical">
  <p:cSld name="CUSTOM_1_1_1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5"/>
          <p:cNvSpPr/>
          <p:nvPr>
            <p:ph idx="2" type="pic"/>
          </p:nvPr>
        </p:nvSpPr>
        <p:spPr>
          <a:xfrm>
            <a:off x="3161800" y="164350"/>
            <a:ext cx="2820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45"/>
          <p:cNvSpPr/>
          <p:nvPr>
            <p:ph idx="3" type="pic"/>
          </p:nvPr>
        </p:nvSpPr>
        <p:spPr>
          <a:xfrm>
            <a:off x="6095100" y="164350"/>
            <a:ext cx="2820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4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45"/>
          <p:cNvSpPr txBox="1"/>
          <p:nvPr>
            <p:ph idx="1" type="subTitle"/>
          </p:nvPr>
        </p:nvSpPr>
        <p:spPr>
          <a:xfrm>
            <a:off x="228600" y="164350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89" name="Google Shape;289;p45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90" name="Google Shape;290;p45"/>
          <p:cNvSpPr txBox="1"/>
          <p:nvPr>
            <p:ph idx="5" type="body"/>
          </p:nvPr>
        </p:nvSpPr>
        <p:spPr>
          <a:xfrm>
            <a:off x="228600" y="593650"/>
            <a:ext cx="21714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91" name="Google Shape;291;p4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4" name="Google Shape;294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square image board">
  <p:cSld name="CUSTOM_1_1_1_1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7"/>
          <p:cNvSpPr/>
          <p:nvPr>
            <p:ph idx="2" type="pic"/>
          </p:nvPr>
        </p:nvSpPr>
        <p:spPr>
          <a:xfrm>
            <a:off x="4569950" y="164350"/>
            <a:ext cx="43431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4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47"/>
          <p:cNvSpPr txBox="1"/>
          <p:nvPr>
            <p:ph idx="1" type="subTitle"/>
          </p:nvPr>
        </p:nvSpPr>
        <p:spPr>
          <a:xfrm>
            <a:off x="228600" y="164350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99" name="Google Shape;299;p47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0" name="Google Shape;300;p47"/>
          <p:cNvSpPr txBox="1"/>
          <p:nvPr>
            <p:ph idx="4" type="body"/>
          </p:nvPr>
        </p:nvSpPr>
        <p:spPr>
          <a:xfrm>
            <a:off x="228600" y="593650"/>
            <a:ext cx="21714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01" name="Google Shape;301;p4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landscape image board">
  <p:cSld name="CUSTOM_1_1_1_1_1_1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8"/>
          <p:cNvSpPr/>
          <p:nvPr>
            <p:ph idx="2" type="pic"/>
          </p:nvPr>
        </p:nvSpPr>
        <p:spPr>
          <a:xfrm>
            <a:off x="31618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04" name="Google Shape;304;p4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48"/>
          <p:cNvSpPr txBox="1"/>
          <p:nvPr>
            <p:ph idx="1" type="subTitle"/>
          </p:nvPr>
        </p:nvSpPr>
        <p:spPr>
          <a:xfrm>
            <a:off x="228600" y="3290275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06" name="Google Shape;306;p48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7" name="Google Shape;307;p48"/>
          <p:cNvSpPr txBox="1"/>
          <p:nvPr>
            <p:ph idx="4" type="body"/>
          </p:nvPr>
        </p:nvSpPr>
        <p:spPr>
          <a:xfrm>
            <a:off x="228600" y="3719575"/>
            <a:ext cx="21714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08" name="Google Shape;308;p4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CUSTOM_1_1_1_1_1_1_2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9"/>
          <p:cNvSpPr/>
          <p:nvPr>
            <p:ph idx="2" type="pic"/>
          </p:nvPr>
        </p:nvSpPr>
        <p:spPr>
          <a:xfrm>
            <a:off x="31618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4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" name="Google Shape;312;p49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13" name="Google Shape;313;p49"/>
          <p:cNvSpPr txBox="1"/>
          <p:nvPr>
            <p:ph idx="3" type="body"/>
          </p:nvPr>
        </p:nvSpPr>
        <p:spPr>
          <a:xfrm>
            <a:off x="228600" y="3719575"/>
            <a:ext cx="21714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14" name="Google Shape;314;p4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Google Shape;315;p49"/>
          <p:cNvSpPr txBox="1"/>
          <p:nvPr>
            <p:ph type="title"/>
          </p:nvPr>
        </p:nvSpPr>
        <p:spPr>
          <a:xfrm>
            <a:off x="228600" y="164350"/>
            <a:ext cx="2670300" cy="28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1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8" name="Google Shape;318;p5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9" name="Google Shape;319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5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3" name="Google Shape;323;p5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4" name="Google Shape;324;p5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5" name="Google Shape;325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_2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8" name="Google Shape;328;p5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29" name="Google Shape;329;p5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53"/>
          <p:cNvSpPr/>
          <p:nvPr>
            <p:ph idx="2" type="pic"/>
          </p:nvPr>
        </p:nvSpPr>
        <p:spPr>
          <a:xfrm>
            <a:off x="4633050" y="1196050"/>
            <a:ext cx="42825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3"/>
          <p:cNvSpPr/>
          <p:nvPr>
            <p:ph idx="3" type="pic"/>
          </p:nvPr>
        </p:nvSpPr>
        <p:spPr>
          <a:xfrm>
            <a:off x="228600" y="1196050"/>
            <a:ext cx="4282500" cy="1761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35" name="Google Shape;335;p5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p53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7" name="Google Shape;337;p53"/>
          <p:cNvSpPr txBox="1"/>
          <p:nvPr>
            <p:ph idx="1" type="body"/>
          </p:nvPr>
        </p:nvSpPr>
        <p:spPr>
          <a:xfrm>
            <a:off x="2294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38" name="Google Shape;338;p53"/>
          <p:cNvSpPr txBox="1"/>
          <p:nvPr>
            <p:ph idx="4" type="subTitle"/>
          </p:nvPr>
        </p:nvSpPr>
        <p:spPr>
          <a:xfrm>
            <a:off x="2294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39" name="Google Shape;339;p53"/>
          <p:cNvSpPr txBox="1"/>
          <p:nvPr>
            <p:ph idx="5" type="body"/>
          </p:nvPr>
        </p:nvSpPr>
        <p:spPr>
          <a:xfrm>
            <a:off x="46330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40" name="Google Shape;340;p53"/>
          <p:cNvSpPr txBox="1"/>
          <p:nvPr>
            <p:ph idx="6" type="subTitle"/>
          </p:nvPr>
        </p:nvSpPr>
        <p:spPr>
          <a:xfrm>
            <a:off x="46330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1_1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3" name="Google Shape;343;p5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54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54"/>
          <p:cNvSpPr/>
          <p:nvPr>
            <p:ph idx="2" type="pic"/>
          </p:nvPr>
        </p:nvSpPr>
        <p:spPr>
          <a:xfrm>
            <a:off x="2286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54"/>
          <p:cNvSpPr/>
          <p:nvPr>
            <p:ph idx="3" type="pic"/>
          </p:nvPr>
        </p:nvSpPr>
        <p:spPr>
          <a:xfrm>
            <a:off x="31618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54"/>
          <p:cNvSpPr/>
          <p:nvPr>
            <p:ph idx="4" type="pic"/>
          </p:nvPr>
        </p:nvSpPr>
        <p:spPr>
          <a:xfrm>
            <a:off x="60950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54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49" name="Google Shape;349;p54"/>
          <p:cNvSpPr txBox="1"/>
          <p:nvPr>
            <p:ph idx="5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50" name="Google Shape;350;p54"/>
          <p:cNvSpPr txBox="1"/>
          <p:nvPr>
            <p:ph idx="6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51" name="Google Shape;351;p54"/>
          <p:cNvSpPr txBox="1"/>
          <p:nvPr>
            <p:ph idx="7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52" name="Google Shape;352;p54"/>
          <p:cNvSpPr txBox="1"/>
          <p:nvPr>
            <p:ph idx="8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53" name="Google Shape;353;p54"/>
          <p:cNvSpPr txBox="1"/>
          <p:nvPr>
            <p:ph idx="9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 with footer">
  <p:cSld name="CUSTOM_1_1_1_1_1_1_1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5"/>
          <p:cNvSpPr/>
          <p:nvPr>
            <p:ph idx="2" type="pic"/>
          </p:nvPr>
        </p:nvSpPr>
        <p:spPr>
          <a:xfrm>
            <a:off x="228600" y="164350"/>
            <a:ext cx="86844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5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7" name="Google Shape;357;p55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58" name="Google Shape;358;p5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6"/>
          <p:cNvSpPr/>
          <p:nvPr>
            <p:ph idx="2" type="pic"/>
          </p:nvPr>
        </p:nvSpPr>
        <p:spPr>
          <a:xfrm>
            <a:off x="228600" y="164350"/>
            <a:ext cx="86844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5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2" name="Google Shape;362;p5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5" name="Google Shape;365;p5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57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7" name="Google Shape;367;p57"/>
          <p:cNvSpPr/>
          <p:nvPr>
            <p:ph idx="2" type="pic"/>
          </p:nvPr>
        </p:nvSpPr>
        <p:spPr>
          <a:xfrm>
            <a:off x="228600" y="2598025"/>
            <a:ext cx="20244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57"/>
          <p:cNvSpPr/>
          <p:nvPr>
            <p:ph idx="3" type="pic"/>
          </p:nvPr>
        </p:nvSpPr>
        <p:spPr>
          <a:xfrm>
            <a:off x="3864875" y="2598025"/>
            <a:ext cx="35619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57"/>
          <p:cNvSpPr/>
          <p:nvPr>
            <p:ph idx="4" type="pic"/>
          </p:nvPr>
        </p:nvSpPr>
        <p:spPr>
          <a:xfrm>
            <a:off x="7547700" y="2598025"/>
            <a:ext cx="13677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57"/>
          <p:cNvSpPr/>
          <p:nvPr>
            <p:ph idx="5" type="pic"/>
          </p:nvPr>
        </p:nvSpPr>
        <p:spPr>
          <a:xfrm>
            <a:off x="2375088" y="2598025"/>
            <a:ext cx="13677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71" name="Google Shape;371;p57"/>
          <p:cNvSpPr/>
          <p:nvPr>
            <p:ph idx="6" type="pic"/>
          </p:nvPr>
        </p:nvSpPr>
        <p:spPr>
          <a:xfrm>
            <a:off x="228600" y="1038850"/>
            <a:ext cx="10035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72" name="Google Shape;372;p57"/>
          <p:cNvSpPr/>
          <p:nvPr>
            <p:ph idx="7" type="pic"/>
          </p:nvPr>
        </p:nvSpPr>
        <p:spPr>
          <a:xfrm>
            <a:off x="6745975" y="1038850"/>
            <a:ext cx="21696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7"/>
          <p:cNvSpPr/>
          <p:nvPr>
            <p:ph idx="8" type="pic"/>
          </p:nvPr>
        </p:nvSpPr>
        <p:spPr>
          <a:xfrm>
            <a:off x="1354150" y="1038850"/>
            <a:ext cx="15024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57"/>
          <p:cNvSpPr/>
          <p:nvPr>
            <p:ph idx="9" type="pic"/>
          </p:nvPr>
        </p:nvSpPr>
        <p:spPr>
          <a:xfrm>
            <a:off x="2981410" y="1038850"/>
            <a:ext cx="21963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57"/>
          <p:cNvSpPr/>
          <p:nvPr>
            <p:ph idx="13" type="pic"/>
          </p:nvPr>
        </p:nvSpPr>
        <p:spPr>
          <a:xfrm>
            <a:off x="5311004" y="1038850"/>
            <a:ext cx="1301700" cy="145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image">
  <p:cSld name="CUSTOM_2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58"/>
          <p:cNvSpPr/>
          <p:nvPr>
            <p:ph idx="2" type="pic"/>
          </p:nvPr>
        </p:nvSpPr>
        <p:spPr>
          <a:xfrm>
            <a:off x="2286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58"/>
          <p:cNvSpPr txBox="1"/>
          <p:nvPr>
            <p:ph type="title"/>
          </p:nvPr>
        </p:nvSpPr>
        <p:spPr>
          <a:xfrm>
            <a:off x="6095100" y="321875"/>
            <a:ext cx="2820300" cy="15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0" name="Google Shape;380;p58"/>
          <p:cNvSpPr txBox="1"/>
          <p:nvPr>
            <p:ph idx="1" type="subTitle"/>
          </p:nvPr>
        </p:nvSpPr>
        <p:spPr>
          <a:xfrm>
            <a:off x="6095100" y="1842575"/>
            <a:ext cx="2820300" cy="26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81" name="Google Shape;381;p58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82" name="Google Shape;382;p5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2_1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85" name="Google Shape;385;p5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" name="Google Shape;386;p59"/>
          <p:cNvSpPr txBox="1"/>
          <p:nvPr>
            <p:ph hasCustomPrompt="1" type="title"/>
          </p:nvPr>
        </p:nvSpPr>
        <p:spPr>
          <a:xfrm>
            <a:off x="225750" y="1212350"/>
            <a:ext cx="8606700" cy="43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9pPr>
          </a:lstStyle>
          <a:p>
            <a:r>
              <a:t>xx%</a:t>
            </a:r>
          </a:p>
        </p:txBody>
      </p:sp>
      <p:cxnSp>
        <p:nvCxnSpPr>
          <p:cNvPr id="387" name="Google Shape;387;p59"/>
          <p:cNvCxnSpPr/>
          <p:nvPr/>
        </p:nvCxnSpPr>
        <p:spPr>
          <a:xfrm flipH="1" rot="10800000">
            <a:off x="225750" y="12123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8" name="Google Shape;388;p59"/>
          <p:cNvSpPr txBox="1"/>
          <p:nvPr>
            <p:ph idx="1" type="body"/>
          </p:nvPr>
        </p:nvSpPr>
        <p:spPr>
          <a:xfrm>
            <a:off x="228600" y="578150"/>
            <a:ext cx="8692500" cy="63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_1_1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1" name="Google Shape;391;p6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60"/>
          <p:cNvSpPr txBox="1"/>
          <p:nvPr>
            <p:ph idx="1" type="body"/>
          </p:nvPr>
        </p:nvSpPr>
        <p:spPr>
          <a:xfrm>
            <a:off x="228600" y="3719575"/>
            <a:ext cx="3942600" cy="7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9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owun Batang"/>
              <a:buNone/>
              <a:defRPr sz="36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2947825"/>
            <a:ext cx="8520600" cy="16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</p:sldLayoutIdLst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pos="5616">
          <p15:clr>
            <a:srgbClr val="E46962"/>
          </p15:clr>
        </p15:guide>
        <p15:guide id="3" orient="horz" pos="10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kaggle.com/datasets/mohammedalsubaie/movies?resource=download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public.tableau.com/app/profile/shrey.soni7744/viz/shared/K686Z563Y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2"/>
          <p:cNvSpPr txBox="1"/>
          <p:nvPr>
            <p:ph type="title"/>
          </p:nvPr>
        </p:nvSpPr>
        <p:spPr>
          <a:xfrm>
            <a:off x="89850" y="3406225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 Revenue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By: Shrey Soni</a:t>
            </a:r>
            <a:endParaRPr sz="20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Hanna Teshome</a:t>
            </a:r>
            <a:endParaRPr sz="20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Ananya Jhamb</a:t>
            </a:r>
            <a:endParaRPr sz="2000"/>
          </a:p>
        </p:txBody>
      </p:sp>
      <p:sp>
        <p:nvSpPr>
          <p:cNvPr id="399" name="Google Shape;399;p6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63"/>
          <p:cNvSpPr txBox="1"/>
          <p:nvPr>
            <p:ph type="title"/>
          </p:nvPr>
        </p:nvSpPr>
        <p:spPr>
          <a:xfrm>
            <a:off x="228600" y="2236650"/>
            <a:ext cx="41886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Purpose</a:t>
            </a:r>
            <a:endParaRPr/>
          </a:p>
        </p:txBody>
      </p:sp>
      <p:sp>
        <p:nvSpPr>
          <p:cNvPr id="406" name="Google Shape;406;p63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Understand patterns and relationships in the film industry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Understand what drives success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Analyze audience </a:t>
            </a:r>
            <a:r>
              <a:rPr lang="en"/>
              <a:t>preferences</a:t>
            </a:r>
            <a:r>
              <a:rPr lang="en"/>
              <a:t>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Support decision-making for those who work in film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64"/>
          <p:cNvGrpSpPr/>
          <p:nvPr/>
        </p:nvGrpSpPr>
        <p:grpSpPr>
          <a:xfrm>
            <a:off x="242375" y="620025"/>
            <a:ext cx="8686800" cy="241135"/>
            <a:chOff x="228600" y="788749"/>
            <a:chExt cx="8686800" cy="310501"/>
          </a:xfrm>
        </p:grpSpPr>
        <p:sp>
          <p:nvSpPr>
            <p:cNvPr id="412" name="Google Shape;412;p64"/>
            <p:cNvSpPr txBox="1"/>
            <p:nvPr/>
          </p:nvSpPr>
          <p:spPr>
            <a:xfrm>
              <a:off x="228600" y="788749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title: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sp>
          <p:nvSpPr>
            <p:cNvPr id="413" name="Google Shape;413;p64"/>
            <p:cNvSpPr txBox="1"/>
            <p:nvPr/>
          </p:nvSpPr>
          <p:spPr>
            <a:xfrm>
              <a:off x="5486400" y="788749"/>
              <a:ext cx="20574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Title of the movie.</a:t>
              </a:r>
              <a:endParaRPr sz="10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414" name="Google Shape;414;p64"/>
            <p:cNvCxnSpPr/>
            <p:nvPr/>
          </p:nvCxnSpPr>
          <p:spPr>
            <a:xfrm>
              <a:off x="228600" y="1099250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15" name="Google Shape;415;p6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6" name="Google Shape;416;p64"/>
          <p:cNvSpPr txBox="1"/>
          <p:nvPr>
            <p:ph idx="1" type="subTitle"/>
          </p:nvPr>
        </p:nvSpPr>
        <p:spPr>
          <a:xfrm>
            <a:off x="228600" y="-5500"/>
            <a:ext cx="5257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Data Overview</a:t>
            </a:r>
            <a:endParaRPr sz="1500"/>
          </a:p>
        </p:txBody>
      </p:sp>
      <p:grpSp>
        <p:nvGrpSpPr>
          <p:cNvPr id="417" name="Google Shape;417;p64"/>
          <p:cNvGrpSpPr/>
          <p:nvPr/>
        </p:nvGrpSpPr>
        <p:grpSpPr>
          <a:xfrm>
            <a:off x="242375" y="378889"/>
            <a:ext cx="8686800" cy="241134"/>
            <a:chOff x="228600" y="478250"/>
            <a:chExt cx="8686800" cy="310500"/>
          </a:xfrm>
        </p:grpSpPr>
        <p:sp>
          <p:nvSpPr>
            <p:cNvPr id="418" name="Google Shape;418;p64"/>
            <p:cNvSpPr txBox="1"/>
            <p:nvPr/>
          </p:nvSpPr>
          <p:spPr>
            <a:xfrm>
              <a:off x="228600" y="478250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movie_id: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sp>
          <p:nvSpPr>
            <p:cNvPr id="419" name="Google Shape;419;p64"/>
            <p:cNvSpPr txBox="1"/>
            <p:nvPr/>
          </p:nvSpPr>
          <p:spPr>
            <a:xfrm>
              <a:off x="5486400" y="478250"/>
              <a:ext cx="34290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Unique identifier for each movie.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420" name="Google Shape;420;p64"/>
            <p:cNvCxnSpPr/>
            <p:nvPr/>
          </p:nvCxnSpPr>
          <p:spPr>
            <a:xfrm>
              <a:off x="228600" y="788750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21" name="Google Shape;421;p64"/>
          <p:cNvGrpSpPr/>
          <p:nvPr/>
        </p:nvGrpSpPr>
        <p:grpSpPr>
          <a:xfrm>
            <a:off x="228600" y="861160"/>
            <a:ext cx="8686800" cy="241140"/>
            <a:chOff x="228600" y="1072774"/>
            <a:chExt cx="8686800" cy="336976"/>
          </a:xfrm>
        </p:grpSpPr>
        <p:sp>
          <p:nvSpPr>
            <p:cNvPr id="422" name="Google Shape;422;p64"/>
            <p:cNvSpPr txBox="1"/>
            <p:nvPr/>
          </p:nvSpPr>
          <p:spPr>
            <a:xfrm>
              <a:off x="228600" y="1072774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240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vote_average: 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sp>
          <p:nvSpPr>
            <p:cNvPr id="423" name="Google Shape;423;p64"/>
            <p:cNvSpPr txBox="1"/>
            <p:nvPr/>
          </p:nvSpPr>
          <p:spPr>
            <a:xfrm>
              <a:off x="5486400" y="1099250"/>
              <a:ext cx="34290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Font typeface="Arial"/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Average rating of the movie (e.g., from 0 to 10).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424" name="Google Shape;424;p64"/>
            <p:cNvCxnSpPr/>
            <p:nvPr/>
          </p:nvCxnSpPr>
          <p:spPr>
            <a:xfrm>
              <a:off x="228600" y="1409750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25" name="Google Shape;425;p64"/>
          <p:cNvGrpSpPr/>
          <p:nvPr/>
        </p:nvGrpSpPr>
        <p:grpSpPr>
          <a:xfrm>
            <a:off x="228600" y="1102297"/>
            <a:ext cx="8686800" cy="241136"/>
            <a:chOff x="228600" y="1409748"/>
            <a:chExt cx="8686800" cy="310502"/>
          </a:xfrm>
        </p:grpSpPr>
        <p:sp>
          <p:nvSpPr>
            <p:cNvPr id="426" name="Google Shape;426;p64"/>
            <p:cNvSpPr txBox="1"/>
            <p:nvPr/>
          </p:nvSpPr>
          <p:spPr>
            <a:xfrm>
              <a:off x="228600" y="1409748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vote_count:</a:t>
              </a:r>
              <a:endParaRPr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sp>
          <p:nvSpPr>
            <p:cNvPr id="427" name="Google Shape;427;p64"/>
            <p:cNvSpPr txBox="1"/>
            <p:nvPr/>
          </p:nvSpPr>
          <p:spPr>
            <a:xfrm>
              <a:off x="5486400" y="1409750"/>
              <a:ext cx="34290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2400"/>
                </a:spcAft>
                <a:buClr>
                  <a:schemeClr val="accent1"/>
                </a:buClr>
                <a:buSzPts val="1100"/>
                <a:buFont typeface="Arial"/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Total number of votes the movie has received.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428" name="Google Shape;428;p64"/>
            <p:cNvCxnSpPr/>
            <p:nvPr/>
          </p:nvCxnSpPr>
          <p:spPr>
            <a:xfrm>
              <a:off x="228600" y="1720250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29" name="Google Shape;429;p64"/>
          <p:cNvGrpSpPr/>
          <p:nvPr/>
        </p:nvGrpSpPr>
        <p:grpSpPr>
          <a:xfrm>
            <a:off x="228600" y="1343436"/>
            <a:ext cx="8686800" cy="241136"/>
            <a:chOff x="228600" y="1409748"/>
            <a:chExt cx="8686800" cy="310502"/>
          </a:xfrm>
        </p:grpSpPr>
        <p:sp>
          <p:nvSpPr>
            <p:cNvPr id="430" name="Google Shape;430;p64"/>
            <p:cNvSpPr txBox="1"/>
            <p:nvPr/>
          </p:nvSpPr>
          <p:spPr>
            <a:xfrm>
              <a:off x="228600" y="1409748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status:</a:t>
              </a:r>
              <a:endParaRPr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sp>
          <p:nvSpPr>
            <p:cNvPr id="431" name="Google Shape;431;p64"/>
            <p:cNvSpPr txBox="1"/>
            <p:nvPr/>
          </p:nvSpPr>
          <p:spPr>
            <a:xfrm>
              <a:off x="5486400" y="1409750"/>
              <a:ext cx="34290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240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Status of the movie (e.g., "Released", "Planned").</a:t>
              </a:r>
              <a:endParaRPr sz="105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432" name="Google Shape;432;p64"/>
            <p:cNvCxnSpPr/>
            <p:nvPr/>
          </p:nvCxnSpPr>
          <p:spPr>
            <a:xfrm>
              <a:off x="228600" y="1720250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33" name="Google Shape;433;p64"/>
          <p:cNvGrpSpPr/>
          <p:nvPr/>
        </p:nvGrpSpPr>
        <p:grpSpPr>
          <a:xfrm>
            <a:off x="228600" y="1545348"/>
            <a:ext cx="8686800" cy="241136"/>
            <a:chOff x="228600" y="1409748"/>
            <a:chExt cx="8686800" cy="310502"/>
          </a:xfrm>
        </p:grpSpPr>
        <p:sp>
          <p:nvSpPr>
            <p:cNvPr id="434" name="Google Shape;434;p64"/>
            <p:cNvSpPr txBox="1"/>
            <p:nvPr/>
          </p:nvSpPr>
          <p:spPr>
            <a:xfrm>
              <a:off x="228600" y="1409748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release_date</a:t>
              </a: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:</a:t>
              </a:r>
              <a:endParaRPr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sp>
          <p:nvSpPr>
            <p:cNvPr id="435" name="Google Shape;435;p64"/>
            <p:cNvSpPr txBox="1"/>
            <p:nvPr/>
          </p:nvSpPr>
          <p:spPr>
            <a:xfrm>
              <a:off x="5486400" y="1409750"/>
              <a:ext cx="34290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240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Release date of the movie.</a:t>
              </a:r>
              <a:endParaRPr sz="105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436" name="Google Shape;436;p64"/>
            <p:cNvCxnSpPr/>
            <p:nvPr/>
          </p:nvCxnSpPr>
          <p:spPr>
            <a:xfrm>
              <a:off x="228600" y="1720250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37" name="Google Shape;437;p64"/>
          <p:cNvGrpSpPr/>
          <p:nvPr/>
        </p:nvGrpSpPr>
        <p:grpSpPr>
          <a:xfrm>
            <a:off x="228600" y="1751798"/>
            <a:ext cx="8686800" cy="310502"/>
            <a:chOff x="228600" y="1409748"/>
            <a:chExt cx="8686800" cy="310502"/>
          </a:xfrm>
        </p:grpSpPr>
        <p:sp>
          <p:nvSpPr>
            <p:cNvPr id="438" name="Google Shape;438;p64"/>
            <p:cNvSpPr txBox="1"/>
            <p:nvPr/>
          </p:nvSpPr>
          <p:spPr>
            <a:xfrm>
              <a:off x="228600" y="1409748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revenue</a:t>
              </a: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:</a:t>
              </a:r>
              <a:endParaRPr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sp>
          <p:nvSpPr>
            <p:cNvPr id="439" name="Google Shape;439;p64"/>
            <p:cNvSpPr txBox="1"/>
            <p:nvPr/>
          </p:nvSpPr>
          <p:spPr>
            <a:xfrm>
              <a:off x="5486400" y="1409750"/>
              <a:ext cx="34290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240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Total revenue </a:t>
              </a: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generated</a:t>
              </a: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 by the movie.</a:t>
              </a:r>
              <a:endParaRPr sz="105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440" name="Google Shape;440;p64"/>
            <p:cNvCxnSpPr/>
            <p:nvPr/>
          </p:nvCxnSpPr>
          <p:spPr>
            <a:xfrm>
              <a:off x="228600" y="1720250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41" name="Google Shape;441;p64"/>
          <p:cNvGrpSpPr/>
          <p:nvPr/>
        </p:nvGrpSpPr>
        <p:grpSpPr>
          <a:xfrm>
            <a:off x="228600" y="1986236"/>
            <a:ext cx="8686800" cy="310502"/>
            <a:chOff x="228600" y="1409748"/>
            <a:chExt cx="8686800" cy="310502"/>
          </a:xfrm>
        </p:grpSpPr>
        <p:sp>
          <p:nvSpPr>
            <p:cNvPr id="442" name="Google Shape;442;p64"/>
            <p:cNvSpPr txBox="1"/>
            <p:nvPr/>
          </p:nvSpPr>
          <p:spPr>
            <a:xfrm>
              <a:off x="228600" y="1409748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adult</a:t>
              </a: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:</a:t>
              </a:r>
              <a:endParaRPr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sp>
          <p:nvSpPr>
            <p:cNvPr id="443" name="Google Shape;443;p64"/>
            <p:cNvSpPr txBox="1"/>
            <p:nvPr/>
          </p:nvSpPr>
          <p:spPr>
            <a:xfrm>
              <a:off x="5472625" y="1409750"/>
              <a:ext cx="34290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240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Indicates if movie is for adults (true/false)</a:t>
              </a:r>
              <a:endParaRPr sz="105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444" name="Google Shape;444;p64"/>
            <p:cNvCxnSpPr/>
            <p:nvPr/>
          </p:nvCxnSpPr>
          <p:spPr>
            <a:xfrm>
              <a:off x="228600" y="1720250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45" name="Google Shape;445;p64"/>
          <p:cNvGrpSpPr/>
          <p:nvPr/>
        </p:nvGrpSpPr>
        <p:grpSpPr>
          <a:xfrm>
            <a:off x="228600" y="2258861"/>
            <a:ext cx="8686800" cy="310502"/>
            <a:chOff x="228600" y="1409748"/>
            <a:chExt cx="8686800" cy="310502"/>
          </a:xfrm>
        </p:grpSpPr>
        <p:sp>
          <p:nvSpPr>
            <p:cNvPr id="446" name="Google Shape;446;p64"/>
            <p:cNvSpPr txBox="1"/>
            <p:nvPr/>
          </p:nvSpPr>
          <p:spPr>
            <a:xfrm>
              <a:off x="228600" y="1409748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budget</a:t>
              </a: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:</a:t>
              </a:r>
              <a:endParaRPr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sp>
          <p:nvSpPr>
            <p:cNvPr id="447" name="Google Shape;447;p64"/>
            <p:cNvSpPr txBox="1"/>
            <p:nvPr/>
          </p:nvSpPr>
          <p:spPr>
            <a:xfrm>
              <a:off x="5472625" y="1409750"/>
              <a:ext cx="34290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240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Budget for movie production. </a:t>
              </a:r>
              <a:endParaRPr sz="105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448" name="Google Shape;448;p64"/>
            <p:cNvCxnSpPr/>
            <p:nvPr/>
          </p:nvCxnSpPr>
          <p:spPr>
            <a:xfrm>
              <a:off x="228600" y="1720250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49" name="Google Shape;449;p64"/>
          <p:cNvGrpSpPr/>
          <p:nvPr/>
        </p:nvGrpSpPr>
        <p:grpSpPr>
          <a:xfrm>
            <a:off x="228600" y="2430913"/>
            <a:ext cx="8686800" cy="403536"/>
            <a:chOff x="228600" y="1409750"/>
            <a:chExt cx="8686800" cy="403536"/>
          </a:xfrm>
        </p:grpSpPr>
        <p:sp>
          <p:nvSpPr>
            <p:cNvPr id="450" name="Google Shape;450;p64"/>
            <p:cNvSpPr txBox="1"/>
            <p:nvPr/>
          </p:nvSpPr>
          <p:spPr>
            <a:xfrm>
              <a:off x="228600" y="1502786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imbd_id:</a:t>
              </a:r>
              <a:endParaRPr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sp>
          <p:nvSpPr>
            <p:cNvPr id="451" name="Google Shape;451;p64"/>
            <p:cNvSpPr txBox="1"/>
            <p:nvPr/>
          </p:nvSpPr>
          <p:spPr>
            <a:xfrm>
              <a:off x="5472625" y="1409750"/>
              <a:ext cx="34290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240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Unique identifier for the movie on IMDb.</a:t>
              </a:r>
              <a:endParaRPr sz="105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452" name="Google Shape;452;p64"/>
            <p:cNvCxnSpPr/>
            <p:nvPr/>
          </p:nvCxnSpPr>
          <p:spPr>
            <a:xfrm>
              <a:off x="228600" y="1720250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53" name="Google Shape;453;p64"/>
          <p:cNvGrpSpPr/>
          <p:nvPr/>
        </p:nvGrpSpPr>
        <p:grpSpPr>
          <a:xfrm>
            <a:off x="228600" y="2786336"/>
            <a:ext cx="8686800" cy="310502"/>
            <a:chOff x="228600" y="1409748"/>
            <a:chExt cx="8686800" cy="310502"/>
          </a:xfrm>
        </p:grpSpPr>
        <p:sp>
          <p:nvSpPr>
            <p:cNvPr id="454" name="Google Shape;454;p64"/>
            <p:cNvSpPr txBox="1"/>
            <p:nvPr/>
          </p:nvSpPr>
          <p:spPr>
            <a:xfrm>
              <a:off x="228600" y="1409748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240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original_language</a:t>
              </a: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: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sp>
          <p:nvSpPr>
            <p:cNvPr id="455" name="Google Shape;455;p64"/>
            <p:cNvSpPr txBox="1"/>
            <p:nvPr/>
          </p:nvSpPr>
          <p:spPr>
            <a:xfrm>
              <a:off x="5472625" y="1409750"/>
              <a:ext cx="34290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Language in which movie was originally produced:</a:t>
              </a:r>
              <a:endParaRPr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2400"/>
                </a:spcAft>
                <a:buNone/>
              </a:pPr>
              <a:r>
                <a:t/>
              </a:r>
              <a:endParaRPr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456" name="Google Shape;456;p64"/>
            <p:cNvCxnSpPr/>
            <p:nvPr/>
          </p:nvCxnSpPr>
          <p:spPr>
            <a:xfrm>
              <a:off x="228600" y="1720250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57" name="Google Shape;457;p64"/>
          <p:cNvGrpSpPr/>
          <p:nvPr/>
        </p:nvGrpSpPr>
        <p:grpSpPr>
          <a:xfrm>
            <a:off x="242375" y="3055848"/>
            <a:ext cx="8686800" cy="310502"/>
            <a:chOff x="228600" y="1409748"/>
            <a:chExt cx="8686800" cy="310502"/>
          </a:xfrm>
        </p:grpSpPr>
        <p:sp>
          <p:nvSpPr>
            <p:cNvPr id="458" name="Google Shape;458;p64"/>
            <p:cNvSpPr txBox="1"/>
            <p:nvPr/>
          </p:nvSpPr>
          <p:spPr>
            <a:xfrm>
              <a:off x="228600" y="1409748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o</a:t>
              </a: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riginal _title:</a:t>
              </a:r>
              <a:endParaRPr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sp>
          <p:nvSpPr>
            <p:cNvPr id="459" name="Google Shape;459;p64"/>
            <p:cNvSpPr txBox="1"/>
            <p:nvPr/>
          </p:nvSpPr>
          <p:spPr>
            <a:xfrm>
              <a:off x="5472625" y="1409750"/>
              <a:ext cx="34290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Original title of the movie (if different from the main title).</a:t>
              </a:r>
              <a:endParaRPr sz="9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2400"/>
                </a:spcAft>
                <a:buNone/>
              </a:pPr>
              <a:r>
                <a:t/>
              </a:r>
              <a:endParaRPr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460" name="Google Shape;460;p64"/>
            <p:cNvCxnSpPr/>
            <p:nvPr/>
          </p:nvCxnSpPr>
          <p:spPr>
            <a:xfrm>
              <a:off x="228600" y="1720250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61" name="Google Shape;461;p64"/>
          <p:cNvGrpSpPr/>
          <p:nvPr/>
        </p:nvGrpSpPr>
        <p:grpSpPr>
          <a:xfrm>
            <a:off x="228600" y="3328338"/>
            <a:ext cx="8686800" cy="310500"/>
            <a:chOff x="228600" y="478250"/>
            <a:chExt cx="8686800" cy="310500"/>
          </a:xfrm>
        </p:grpSpPr>
        <p:sp>
          <p:nvSpPr>
            <p:cNvPr id="462" name="Google Shape;462;p64"/>
            <p:cNvSpPr txBox="1"/>
            <p:nvPr/>
          </p:nvSpPr>
          <p:spPr>
            <a:xfrm>
              <a:off x="228600" y="478250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overview:</a:t>
              </a:r>
              <a:endParaRPr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sp>
          <p:nvSpPr>
            <p:cNvPr id="463" name="Google Shape;463;p64"/>
            <p:cNvSpPr txBox="1"/>
            <p:nvPr/>
          </p:nvSpPr>
          <p:spPr>
            <a:xfrm>
              <a:off x="5486400" y="478250"/>
              <a:ext cx="34290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2400"/>
                </a:spcAft>
                <a:buClr>
                  <a:schemeClr val="accent1"/>
                </a:buClr>
                <a:buSzPts val="1100"/>
                <a:buFont typeface="Arial"/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Brief summary or description of the movie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464" name="Google Shape;464;p64"/>
            <p:cNvCxnSpPr/>
            <p:nvPr/>
          </p:nvCxnSpPr>
          <p:spPr>
            <a:xfrm>
              <a:off x="228600" y="788750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65" name="Google Shape;465;p64"/>
          <p:cNvGrpSpPr/>
          <p:nvPr/>
        </p:nvGrpSpPr>
        <p:grpSpPr>
          <a:xfrm>
            <a:off x="242375" y="3594611"/>
            <a:ext cx="8686800" cy="310502"/>
            <a:chOff x="228600" y="1409748"/>
            <a:chExt cx="8686800" cy="310502"/>
          </a:xfrm>
        </p:grpSpPr>
        <p:sp>
          <p:nvSpPr>
            <p:cNvPr id="466" name="Google Shape;466;p64"/>
            <p:cNvSpPr txBox="1"/>
            <p:nvPr/>
          </p:nvSpPr>
          <p:spPr>
            <a:xfrm>
              <a:off x="228600" y="1409748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popularity:</a:t>
              </a:r>
              <a:endParaRPr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sp>
          <p:nvSpPr>
            <p:cNvPr id="467" name="Google Shape;467;p64"/>
            <p:cNvSpPr txBox="1"/>
            <p:nvPr/>
          </p:nvSpPr>
          <p:spPr>
            <a:xfrm>
              <a:off x="5472625" y="1409750"/>
              <a:ext cx="34290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Font typeface="Arial"/>
                <a:buNone/>
              </a:pPr>
              <a:r>
                <a:rPr lang="en" sz="90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Popularity score of the movie, often based on various factors.</a:t>
              </a:r>
              <a:endParaRPr sz="90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2400"/>
                </a:spcAft>
                <a:buNone/>
              </a:pPr>
              <a:r>
                <a:t/>
              </a:r>
              <a:endParaRPr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468" name="Google Shape;468;p64"/>
            <p:cNvCxnSpPr/>
            <p:nvPr/>
          </p:nvCxnSpPr>
          <p:spPr>
            <a:xfrm>
              <a:off x="228600" y="1720250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69" name="Google Shape;469;p64"/>
          <p:cNvGrpSpPr/>
          <p:nvPr/>
        </p:nvGrpSpPr>
        <p:grpSpPr>
          <a:xfrm>
            <a:off x="228600" y="3820875"/>
            <a:ext cx="8686800" cy="310500"/>
            <a:chOff x="228600" y="478250"/>
            <a:chExt cx="8686800" cy="310500"/>
          </a:xfrm>
        </p:grpSpPr>
        <p:sp>
          <p:nvSpPr>
            <p:cNvPr id="470" name="Google Shape;470;p64"/>
            <p:cNvSpPr txBox="1"/>
            <p:nvPr/>
          </p:nvSpPr>
          <p:spPr>
            <a:xfrm>
              <a:off x="228600" y="478250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genres: </a:t>
              </a:r>
              <a:endParaRPr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sp>
          <p:nvSpPr>
            <p:cNvPr id="471" name="Google Shape;471;p64"/>
            <p:cNvSpPr txBox="1"/>
            <p:nvPr/>
          </p:nvSpPr>
          <p:spPr>
            <a:xfrm>
              <a:off x="5486400" y="478250"/>
              <a:ext cx="34290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2400"/>
                </a:spcAft>
                <a:buClr>
                  <a:schemeClr val="accent1"/>
                </a:buClr>
                <a:buSzPts val="1100"/>
                <a:buFont typeface="Arial"/>
                <a:buNone/>
              </a:pPr>
              <a:r>
                <a:rPr lang="en" sz="90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Comma-separated list of genres associated with the movie.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472" name="Google Shape;472;p64"/>
            <p:cNvCxnSpPr/>
            <p:nvPr/>
          </p:nvCxnSpPr>
          <p:spPr>
            <a:xfrm>
              <a:off x="228600" y="788750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73" name="Google Shape;473;p64"/>
          <p:cNvGrpSpPr/>
          <p:nvPr/>
        </p:nvGrpSpPr>
        <p:grpSpPr>
          <a:xfrm>
            <a:off x="242375" y="4096699"/>
            <a:ext cx="8686800" cy="310501"/>
            <a:chOff x="228600" y="788749"/>
            <a:chExt cx="8686800" cy="310501"/>
          </a:xfrm>
        </p:grpSpPr>
        <p:sp>
          <p:nvSpPr>
            <p:cNvPr id="474" name="Google Shape;474;p64"/>
            <p:cNvSpPr txBox="1"/>
            <p:nvPr/>
          </p:nvSpPr>
          <p:spPr>
            <a:xfrm>
              <a:off x="228600" y="788749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240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production_companies: </a:t>
              </a:r>
              <a:endParaRPr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sp>
          <p:nvSpPr>
            <p:cNvPr id="475" name="Google Shape;475;p64"/>
            <p:cNvSpPr txBox="1"/>
            <p:nvPr/>
          </p:nvSpPr>
          <p:spPr>
            <a:xfrm>
              <a:off x="5486400" y="788750"/>
              <a:ext cx="34152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Font typeface="Arial"/>
                <a:buNone/>
              </a:pPr>
              <a:r>
                <a:rPr lang="en" sz="8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Comma-separated list of companies that produced the movie.</a:t>
              </a:r>
              <a:endParaRPr sz="8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476" name="Google Shape;476;p64"/>
            <p:cNvCxnSpPr/>
            <p:nvPr/>
          </p:nvCxnSpPr>
          <p:spPr>
            <a:xfrm>
              <a:off x="228600" y="1099250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77" name="Google Shape;477;p64"/>
          <p:cNvGrpSpPr/>
          <p:nvPr/>
        </p:nvGrpSpPr>
        <p:grpSpPr>
          <a:xfrm>
            <a:off x="228600" y="4313399"/>
            <a:ext cx="8700575" cy="310501"/>
            <a:chOff x="214825" y="788749"/>
            <a:chExt cx="8700575" cy="310501"/>
          </a:xfrm>
        </p:grpSpPr>
        <p:sp>
          <p:nvSpPr>
            <p:cNvPr id="478" name="Google Shape;478;p64"/>
            <p:cNvSpPr txBox="1"/>
            <p:nvPr/>
          </p:nvSpPr>
          <p:spPr>
            <a:xfrm>
              <a:off x="214825" y="788749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2400"/>
                </a:spcAft>
                <a:buNone/>
              </a:pPr>
              <a:r>
                <a:rPr lang="en" sz="10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production_countries: </a:t>
              </a:r>
              <a:endParaRPr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sp>
          <p:nvSpPr>
            <p:cNvPr id="479" name="Google Shape;479;p64"/>
            <p:cNvSpPr txBox="1"/>
            <p:nvPr/>
          </p:nvSpPr>
          <p:spPr>
            <a:xfrm>
              <a:off x="5486400" y="788750"/>
              <a:ext cx="34152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3C4043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Comma-separated list of countries where the movie was produced.</a:t>
              </a:r>
              <a:endParaRPr sz="8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t/>
              </a:r>
              <a:endParaRPr sz="8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t/>
              </a:r>
              <a:endParaRPr sz="8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480" name="Google Shape;480;p64"/>
            <p:cNvCxnSpPr/>
            <p:nvPr/>
          </p:nvCxnSpPr>
          <p:spPr>
            <a:xfrm>
              <a:off x="228600" y="1099250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81" name="Google Shape;481;p64"/>
          <p:cNvSpPr txBox="1"/>
          <p:nvPr/>
        </p:nvSpPr>
        <p:spPr>
          <a:xfrm>
            <a:off x="242375" y="4685899"/>
            <a:ext cx="47928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28600" rtl="0" algn="l">
              <a:lnSpc>
                <a:spcPct val="115000"/>
              </a:lnSpc>
              <a:spcBef>
                <a:spcPts val="3600"/>
              </a:spcBef>
              <a:spcAft>
                <a:spcPts val="2400"/>
              </a:spcAft>
              <a:buNone/>
            </a:pPr>
            <a:r>
              <a:rPr lang="en"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rPr>
              <a:t>Spoken_languages: </a:t>
            </a:r>
            <a:r>
              <a:rPr lang="en"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rPr>
              <a:t>Comma-separated list of languages spoken in the movie.</a:t>
            </a:r>
            <a:endParaRPr sz="1050">
              <a:solidFill>
                <a:srgbClr val="3C4043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482" name="Google Shape;482;p64"/>
          <p:cNvSpPr txBox="1"/>
          <p:nvPr/>
        </p:nvSpPr>
        <p:spPr>
          <a:xfrm>
            <a:off x="5593350" y="4685900"/>
            <a:ext cx="34152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rPr>
              <a:t> </a:t>
            </a:r>
            <a:r>
              <a:rPr lang="en" sz="1050">
                <a:solidFill>
                  <a:srgbClr val="3C4043"/>
                </a:solidFill>
                <a:latin typeface="Gowun Batang"/>
                <a:ea typeface="Gowun Batang"/>
                <a:cs typeface="Gowun Batang"/>
                <a:sym typeface="Gowun Batang"/>
              </a:rPr>
              <a:t>Comma-separated list of languages spoken in the movie.</a:t>
            </a:r>
            <a:endParaRPr sz="1050">
              <a:solidFill>
                <a:srgbClr val="3C4043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3C4043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5"/>
          <p:cNvSpPr txBox="1"/>
          <p:nvPr>
            <p:ph type="title"/>
          </p:nvPr>
        </p:nvSpPr>
        <p:spPr>
          <a:xfrm>
            <a:off x="2400300" y="264975"/>
            <a:ext cx="4343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Overview</a:t>
            </a:r>
            <a:endParaRPr/>
          </a:p>
        </p:txBody>
      </p:sp>
      <p:sp>
        <p:nvSpPr>
          <p:cNvPr id="488" name="Google Shape;488;p65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9" name="Google Shape;489;p65" title="Screenshot 2025-12-21 at 2.20.35 PM.png"/>
          <p:cNvPicPr preferRelativeResize="0"/>
          <p:nvPr/>
        </p:nvPicPr>
        <p:blipFill rotWithShape="1">
          <a:blip r:embed="rId3">
            <a:alphaModFix/>
          </a:blip>
          <a:srcRect b="0" l="1478" r="0" t="11269"/>
          <a:stretch/>
        </p:blipFill>
        <p:spPr>
          <a:xfrm>
            <a:off x="67312" y="2001288"/>
            <a:ext cx="9009377" cy="114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5" name="Google Shape;495;p66"/>
          <p:cNvSpPr txBox="1"/>
          <p:nvPr>
            <p:ph type="title"/>
          </p:nvPr>
        </p:nvSpPr>
        <p:spPr>
          <a:xfrm>
            <a:off x="228600" y="90900"/>
            <a:ext cx="84393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Dashboard 1</a:t>
            </a:r>
            <a:endParaRPr sz="3600"/>
          </a:p>
        </p:txBody>
      </p:sp>
      <p:sp>
        <p:nvSpPr>
          <p:cNvPr id="496" name="Google Shape;496;p66"/>
          <p:cNvSpPr txBox="1"/>
          <p:nvPr>
            <p:ph idx="1" type="subTitle"/>
          </p:nvPr>
        </p:nvSpPr>
        <p:spPr>
          <a:xfrm>
            <a:off x="4572000" y="330875"/>
            <a:ext cx="4442100" cy="410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Tree Map: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Revenue → Color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Budget → Size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Marks → Square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bigger and more pigmented the square the higher the revenue/budget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Bar Chart: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Created calculated field to split genre strings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Production companies → columns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Budget and revenue → rows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Added Average dotted line</a:t>
            </a:r>
            <a:endParaRPr/>
          </a:p>
        </p:txBody>
      </p:sp>
      <p:pic>
        <p:nvPicPr>
          <p:cNvPr id="497" name="Google Shape;497;p66" title="Screenshot 2025-12-20 at 6.35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13500"/>
            <a:ext cx="4267198" cy="3352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7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</a:t>
            </a:r>
            <a:endParaRPr/>
          </a:p>
        </p:txBody>
      </p:sp>
      <p:sp>
        <p:nvSpPr>
          <p:cNvPr id="503" name="Google Shape;503;p67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Higher budget leads to high revenue production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Not many films over sell their budget costs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Top 10 production companies often make three times as much of their revenue on average</a:t>
            </a:r>
            <a:endParaRPr/>
          </a:p>
        </p:txBody>
      </p:sp>
      <p:sp>
        <p:nvSpPr>
          <p:cNvPr id="504" name="Google Shape;504;p67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0" name="Google Shape;510;p68"/>
          <p:cNvSpPr txBox="1"/>
          <p:nvPr>
            <p:ph type="title"/>
          </p:nvPr>
        </p:nvSpPr>
        <p:spPr>
          <a:xfrm>
            <a:off x="228600" y="33450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 2</a:t>
            </a:r>
            <a:endParaRPr/>
          </a:p>
        </p:txBody>
      </p:sp>
      <p:sp>
        <p:nvSpPr>
          <p:cNvPr id="511" name="Google Shape;511;p68"/>
          <p:cNvSpPr txBox="1"/>
          <p:nvPr>
            <p:ph idx="1" type="subTitle"/>
          </p:nvPr>
        </p:nvSpPr>
        <p:spPr>
          <a:xfrm>
            <a:off x="4572000" y="60150"/>
            <a:ext cx="4343400" cy="461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Stacked Bar-Chart: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Genre → Rows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Revenue → Columns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Adults → Color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Dual-Axis: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Revenue → columns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Popularity → rows x2 (one as a line chart another with circle chart)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Select dual axis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Heat Map: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Release</a:t>
            </a:r>
            <a:r>
              <a:rPr lang="en" sz="1600"/>
              <a:t> date → columns (selected year)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Genre → rows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Revenue → colors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2" name="Google Shape;512;p68" title="Screenshot 2025-12-21 at 2.31.1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57100"/>
            <a:ext cx="4225650" cy="336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9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</a:t>
            </a:r>
            <a:endParaRPr/>
          </a:p>
        </p:txBody>
      </p:sp>
      <p:sp>
        <p:nvSpPr>
          <p:cNvPr id="518" name="Google Shape;518;p69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Adventure, action, and fantasy are the three genres with the highest grossings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Films that are for adults and children are much more </a:t>
            </a:r>
            <a:r>
              <a:rPr lang="en"/>
              <a:t>profitable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Rise in popularity in film in more </a:t>
            </a:r>
            <a:r>
              <a:rPr lang="en"/>
              <a:t>recent</a:t>
            </a:r>
            <a:r>
              <a:rPr lang="en"/>
              <a:t> years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Popularity score is related to increase in revenue</a:t>
            </a:r>
            <a:endParaRPr/>
          </a:p>
        </p:txBody>
      </p:sp>
      <p:sp>
        <p:nvSpPr>
          <p:cNvPr id="519" name="Google Shape;519;p69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7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5" name="Google Shape;525;p70"/>
          <p:cNvSpPr txBox="1"/>
          <p:nvPr>
            <p:ph type="title"/>
          </p:nvPr>
        </p:nvSpPr>
        <p:spPr>
          <a:xfrm>
            <a:off x="228600" y="216525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 3</a:t>
            </a:r>
            <a:endParaRPr/>
          </a:p>
        </p:txBody>
      </p:sp>
      <p:sp>
        <p:nvSpPr>
          <p:cNvPr id="526" name="Google Shape;526;p70"/>
          <p:cNvSpPr txBox="1"/>
          <p:nvPr>
            <p:ph idx="1" type="subTitle"/>
          </p:nvPr>
        </p:nvSpPr>
        <p:spPr>
          <a:xfrm>
            <a:off x="4572000" y="110300"/>
            <a:ext cx="4343400" cy="43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Clustering: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Filtered</a:t>
            </a:r>
            <a:r>
              <a:rPr lang="en" sz="1600"/>
              <a:t> top 10 revenues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Voting</a:t>
            </a:r>
            <a:r>
              <a:rPr lang="en" sz="1600"/>
              <a:t> avg. →columns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Revenue avg. → rows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Added two average lines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Clustered by </a:t>
            </a:r>
            <a:r>
              <a:rPr lang="en" sz="1600"/>
              <a:t>quadrants</a:t>
            </a:r>
            <a:r>
              <a:rPr lang="en" sz="1600"/>
              <a:t>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Scatter plot with a trend line: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Vote count → columns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Avg. revenue → rows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Filtered vote count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Bar Chart: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Created a </a:t>
            </a:r>
            <a:r>
              <a:rPr lang="en" sz="1600"/>
              <a:t>calculated</a:t>
            </a:r>
            <a:r>
              <a:rPr lang="en" sz="1600"/>
              <a:t> </a:t>
            </a:r>
            <a:r>
              <a:rPr lang="en" sz="1600"/>
              <a:t>field</a:t>
            </a:r>
            <a:r>
              <a:rPr lang="en" sz="1600"/>
              <a:t> called “voter reception” to </a:t>
            </a:r>
            <a:r>
              <a:rPr lang="en" sz="1600"/>
              <a:t>analyze</a:t>
            </a:r>
            <a:r>
              <a:rPr lang="en" sz="1600"/>
              <a:t> viewer </a:t>
            </a:r>
            <a:r>
              <a:rPr lang="en" sz="1600"/>
              <a:t>engagement</a:t>
            </a:r>
            <a:r>
              <a:rPr lang="en" sz="1600"/>
              <a:t>  (vote count x vote score)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Voter reception →columns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Avg. revenue → rows</a:t>
            </a:r>
            <a:endParaRPr sz="1600"/>
          </a:p>
        </p:txBody>
      </p:sp>
      <p:pic>
        <p:nvPicPr>
          <p:cNvPr id="527" name="Google Shape;527;p70" title="Screenshot 2025-12-20 at 5.45.0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39125"/>
            <a:ext cx="4267199" cy="3395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1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</a:t>
            </a:r>
            <a:endParaRPr/>
          </a:p>
        </p:txBody>
      </p:sp>
      <p:sp>
        <p:nvSpPr>
          <p:cNvPr id="533" name="Google Shape;533;p71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Movies with higher voting </a:t>
            </a:r>
            <a:r>
              <a:rPr lang="en"/>
              <a:t>averages</a:t>
            </a:r>
            <a:r>
              <a:rPr lang="en"/>
              <a:t> </a:t>
            </a:r>
            <a:r>
              <a:rPr lang="en"/>
              <a:t>produce</a:t>
            </a:r>
            <a:r>
              <a:rPr lang="en"/>
              <a:t> higher revenue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Number of votes is </a:t>
            </a:r>
            <a:r>
              <a:rPr lang="en"/>
              <a:t>statistically</a:t>
            </a:r>
            <a:r>
              <a:rPr lang="en"/>
              <a:t> significant to avg. revenue (p-value= &lt;0.0001)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Higher viewer engagement leads to higher revenue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72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72"/>
          <p:cNvSpPr txBox="1"/>
          <p:nvPr>
            <p:ph idx="1" type="subTitle"/>
          </p:nvPr>
        </p:nvSpPr>
        <p:spPr>
          <a:xfrm>
            <a:off x="4996825" y="535425"/>
            <a:ext cx="4043400" cy="409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accent1"/>
                </a:solidFill>
              </a:rPr>
              <a:t>Seasonal Revenue Analysis</a:t>
            </a:r>
            <a:endParaRPr sz="1500">
              <a:solidFill>
                <a:schemeClr val="accent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chemeClr val="accent1"/>
                </a:solidFill>
              </a:rPr>
              <a:t>Revenue distribution plotted by release month, grouped into Holiday, Summer, and Other</a:t>
            </a:r>
            <a:endParaRPr sz="1500">
              <a:solidFill>
                <a:schemeClr val="accent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chemeClr val="accent1"/>
                </a:solidFill>
              </a:rPr>
              <a:t>Used box plots to capture spread, median, and outliers</a:t>
            </a:r>
            <a:endParaRPr sz="1500">
              <a:solidFill>
                <a:schemeClr val="accent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chemeClr val="accent1"/>
                </a:solidFill>
              </a:rPr>
              <a:t>Added overall median reference line for comparison across months</a:t>
            </a:r>
            <a:endParaRPr sz="15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</a:rPr>
              <a:t> Revenue Trend Over Time</a:t>
            </a:r>
            <a:endParaRPr sz="1500">
              <a:solidFill>
                <a:schemeClr val="accent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chemeClr val="accent1"/>
                </a:solidFill>
              </a:rPr>
              <a:t>Release Year (binned) plotted against moving average of average revenue</a:t>
            </a:r>
            <a:endParaRPr sz="1500">
              <a:solidFill>
                <a:schemeClr val="accent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chemeClr val="accent1"/>
                </a:solidFill>
              </a:rPr>
              <a:t>Applied a smoothed trend line to reduce volatility and highlight long-term patterns</a:t>
            </a:r>
            <a:br>
              <a:rPr lang="en" sz="1500">
                <a:solidFill>
                  <a:schemeClr val="accent1"/>
                </a:solidFill>
              </a:rPr>
            </a:br>
            <a:endParaRPr sz="15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40" name="Google Shape;540;p72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1" name="Google Shape;541;p72"/>
          <p:cNvPicPr preferRelativeResize="0"/>
          <p:nvPr/>
        </p:nvPicPr>
        <p:blipFill rotWithShape="1">
          <a:blip r:embed="rId3">
            <a:alphaModFix/>
          </a:blip>
          <a:srcRect b="7650" l="14086" r="23585" t="10268"/>
          <a:stretch/>
        </p:blipFill>
        <p:spPr>
          <a:xfrm>
            <a:off x="101075" y="582425"/>
            <a:ext cx="4667798" cy="409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3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Findings</a:t>
            </a:r>
            <a:endParaRPr/>
          </a:p>
        </p:txBody>
      </p:sp>
      <p:sp>
        <p:nvSpPr>
          <p:cNvPr id="547" name="Google Shape;547;p73"/>
          <p:cNvSpPr txBox="1"/>
          <p:nvPr>
            <p:ph idx="1" type="subTitle"/>
          </p:nvPr>
        </p:nvSpPr>
        <p:spPr>
          <a:xfrm>
            <a:off x="4572000" y="1123850"/>
            <a:ext cx="4343400" cy="30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chemeClr val="accent1"/>
                </a:solidFill>
              </a:rPr>
              <a:t>Movies released during holiday and peak summer months tend to generate higher median revenues compared to off-season releases.</a:t>
            </a:r>
            <a:endParaRPr sz="1700">
              <a:solidFill>
                <a:schemeClr val="accen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chemeClr val="accent1"/>
                </a:solidFill>
              </a:rPr>
              <a:t>Revenue growth shows a strong upward trend from the late 1980s through early 2000s, indicating industry expansion and higher box-office potential over time.</a:t>
            </a:r>
            <a:endParaRPr sz="1700">
              <a:solidFill>
                <a:schemeClr val="accen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chemeClr val="accent1"/>
                </a:solidFill>
              </a:rPr>
              <a:t>Recent years show greater volatility and slight decline, suggesting market saturation and increased competition from alternative distribution platforms.</a:t>
            </a:r>
            <a:endParaRPr sz="17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548" name="Google Shape;548;p73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4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74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accent1"/>
                </a:solidFill>
              </a:rPr>
              <a:t>Revenue by Production Type</a:t>
            </a:r>
            <a:endParaRPr sz="16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accent1"/>
                </a:solidFill>
              </a:rPr>
              <a:t>Compared average revenue across single-country productions and international co-productions</a:t>
            </a:r>
            <a:endParaRPr sz="14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accent1"/>
                </a:solidFill>
              </a:rPr>
              <a:t>Used a horizontal bar chart for direct revenue comparison</a:t>
            </a:r>
            <a:endParaRPr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accent1"/>
                </a:solidFill>
              </a:rPr>
              <a:t>Revenue by Original Language</a:t>
            </a:r>
            <a:endParaRPr sz="16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accent1"/>
                </a:solidFill>
              </a:rPr>
              <a:t>Visualized revenue share by original language using a pie chart</a:t>
            </a:r>
            <a:endParaRPr sz="14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Gowun Batang"/>
              <a:buChar char="●"/>
            </a:pPr>
            <a:r>
              <a:rPr lang="en" sz="1400">
                <a:solidFill>
                  <a:schemeClr val="accent1"/>
                </a:solidFill>
              </a:rPr>
              <a:t>Highlighted dominance of English-language films relative to other languages</a:t>
            </a:r>
            <a:endParaRPr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accent1"/>
                </a:solidFill>
              </a:rPr>
              <a:t>Revenue by Production Country</a:t>
            </a:r>
            <a:endParaRPr sz="16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accent1"/>
                </a:solidFill>
              </a:rPr>
              <a:t>Displayed total revenue by production country using a world heat map</a:t>
            </a:r>
            <a:endParaRPr sz="14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Gowun Batang"/>
              <a:buChar char="●"/>
            </a:pPr>
            <a:r>
              <a:rPr lang="en" sz="1400">
                <a:solidFill>
                  <a:schemeClr val="accent1"/>
                </a:solidFill>
              </a:rPr>
              <a:t>Color intensity represents cumulative box office performance across regions</a:t>
            </a:r>
            <a:endParaRPr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555" name="Google Shape;555;p74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6" name="Google Shape;556;p74"/>
          <p:cNvPicPr preferRelativeResize="0"/>
          <p:nvPr/>
        </p:nvPicPr>
        <p:blipFill rotWithShape="1">
          <a:blip r:embed="rId3">
            <a:alphaModFix/>
          </a:blip>
          <a:srcRect b="15349" l="14087" r="34838" t="10784"/>
          <a:stretch/>
        </p:blipFill>
        <p:spPr>
          <a:xfrm>
            <a:off x="150000" y="241825"/>
            <a:ext cx="4422000" cy="429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5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</a:t>
            </a:r>
            <a:endParaRPr/>
          </a:p>
        </p:txBody>
      </p:sp>
      <p:sp>
        <p:nvSpPr>
          <p:cNvPr id="562" name="Google Shape;562;p75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chemeClr val="accent1"/>
                </a:solidFill>
              </a:rPr>
              <a:t>International co-productions generate significantly higher average revenue than single-country productions, indicating benefits from cross-border financing and market access.</a:t>
            </a:r>
            <a:br>
              <a:rPr lang="en" sz="1500">
                <a:solidFill>
                  <a:schemeClr val="accent1"/>
                </a:solidFill>
              </a:rPr>
            </a:br>
            <a:endParaRPr sz="1500">
              <a:solidFill>
                <a:schemeClr val="accent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chemeClr val="accent1"/>
                </a:solidFill>
              </a:rPr>
              <a:t>English-language films dominate global box office revenue, accounting for the majority of total revenue compared to non-English productions.</a:t>
            </a:r>
            <a:br>
              <a:rPr lang="en" sz="1500">
                <a:solidFill>
                  <a:schemeClr val="accent1"/>
                </a:solidFill>
              </a:rPr>
            </a:br>
            <a:endParaRPr sz="1500">
              <a:solidFill>
                <a:schemeClr val="accent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chemeClr val="accent1"/>
                </a:solidFill>
              </a:rPr>
              <a:t>Box office revenue is highly concentrated in a small number of countries, with the United States and select international markets contributing disproportionately to global earnings.</a:t>
            </a:r>
            <a:endParaRPr sz="2400"/>
          </a:p>
        </p:txBody>
      </p:sp>
      <p:sp>
        <p:nvSpPr>
          <p:cNvPr id="563" name="Google Shape;563;p75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6"/>
          <p:cNvSpPr txBox="1"/>
          <p:nvPr>
            <p:ph type="title"/>
          </p:nvPr>
        </p:nvSpPr>
        <p:spPr>
          <a:xfrm>
            <a:off x="131850" y="2845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 4</a:t>
            </a:r>
            <a:endParaRPr/>
          </a:p>
        </p:txBody>
      </p:sp>
      <p:sp>
        <p:nvSpPr>
          <p:cNvPr id="569" name="Google Shape;569;p76"/>
          <p:cNvSpPr txBox="1"/>
          <p:nvPr>
            <p:ph idx="1" type="subTitle"/>
          </p:nvPr>
        </p:nvSpPr>
        <p:spPr>
          <a:xfrm>
            <a:off x="70275" y="1249825"/>
            <a:ext cx="3817500" cy="297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Count Vs revenue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Majors vs </a:t>
            </a:r>
            <a:r>
              <a:rPr lang="en"/>
              <a:t>independents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Average of Top N countries</a:t>
            </a:r>
            <a:endParaRPr/>
          </a:p>
        </p:txBody>
      </p:sp>
      <p:sp>
        <p:nvSpPr>
          <p:cNvPr id="570" name="Google Shape;570;p76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1" name="Google Shape;571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9525" y="214000"/>
            <a:ext cx="5478174" cy="446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7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</a:t>
            </a:r>
            <a:endParaRPr/>
          </a:p>
        </p:txBody>
      </p:sp>
      <p:sp>
        <p:nvSpPr>
          <p:cNvPr id="577" name="Google Shape;577;p77"/>
          <p:cNvSpPr txBox="1"/>
          <p:nvPr>
            <p:ph idx="1" type="subTitle"/>
          </p:nvPr>
        </p:nvSpPr>
        <p:spPr>
          <a:xfrm>
            <a:off x="3664625" y="688275"/>
            <a:ext cx="5250900" cy="345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accent1"/>
                </a:solidFill>
              </a:rPr>
              <a:t>It demonstrates that </a:t>
            </a:r>
            <a:r>
              <a:rPr b="1" lang="en" sz="1400">
                <a:solidFill>
                  <a:schemeClr val="accent1"/>
                </a:solidFill>
              </a:rPr>
              <a:t>revenue is not evenly distributed across the film industry</a:t>
            </a:r>
            <a:r>
              <a:rPr lang="en" sz="1400">
                <a:solidFill>
                  <a:schemeClr val="accent1"/>
                </a:solidFill>
              </a:rPr>
              <a:t>. Instead, it is concentrated among:</a:t>
            </a:r>
            <a:endParaRPr sz="14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chemeClr val="accent1"/>
                </a:solidFill>
              </a:rPr>
              <a:t>major studios</a:t>
            </a:r>
            <a:r>
              <a:rPr lang="en" sz="1400">
                <a:solidFill>
                  <a:schemeClr val="accent1"/>
                </a:solidFill>
              </a:rPr>
              <a:t>,</a:t>
            </a:r>
            <a:endParaRPr sz="14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chemeClr val="accent1"/>
                </a:solidFill>
              </a:rPr>
              <a:t>high-collaboration productions</a:t>
            </a:r>
            <a:r>
              <a:rPr lang="en" sz="1400">
                <a:solidFill>
                  <a:schemeClr val="accent1"/>
                </a:solidFill>
              </a:rPr>
              <a:t>, and</a:t>
            </a:r>
            <a:endParaRPr sz="14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chemeClr val="accent1"/>
                </a:solidFill>
              </a:rPr>
              <a:t>U.S.-centric production ecosystems</a:t>
            </a:r>
            <a:r>
              <a:rPr lang="en" sz="1400">
                <a:solidFill>
                  <a:schemeClr val="accent1"/>
                </a:solidFill>
              </a:rPr>
              <a:t>.</a:t>
            </a:r>
            <a:endParaRPr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accent1"/>
                </a:solidFill>
              </a:rPr>
              <a:t>This structural imbalance helps explain why a small subset of films captures a disproportionate share of global box office revenue.</a:t>
            </a:r>
            <a:endParaRPr sz="14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578" name="Google Shape;578;p77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8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Popularity vs Revenue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Spoken languages vs revenue</a:t>
            </a:r>
            <a:endParaRPr sz="2000"/>
          </a:p>
        </p:txBody>
      </p:sp>
      <p:sp>
        <p:nvSpPr>
          <p:cNvPr id="584" name="Google Shape;584;p78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78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78"/>
          <p:cNvSpPr txBox="1"/>
          <p:nvPr>
            <p:ph type="title"/>
          </p:nvPr>
        </p:nvSpPr>
        <p:spPr>
          <a:xfrm>
            <a:off x="131850" y="2845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 5</a:t>
            </a:r>
            <a:endParaRPr/>
          </a:p>
        </p:txBody>
      </p:sp>
      <p:pic>
        <p:nvPicPr>
          <p:cNvPr id="587" name="Google Shape;58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6700" y="860075"/>
            <a:ext cx="5135023" cy="342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9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</a:t>
            </a:r>
            <a:endParaRPr/>
          </a:p>
        </p:txBody>
      </p:sp>
      <p:sp>
        <p:nvSpPr>
          <p:cNvPr id="593" name="Google Shape;593;p79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accent1"/>
                </a:solidFill>
              </a:rPr>
              <a:t>It shows that demand signals matter more than breadth signals:</a:t>
            </a:r>
            <a:endParaRPr sz="1500">
              <a:solidFill>
                <a:schemeClr val="accen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chemeClr val="accent1"/>
                </a:solidFill>
              </a:rPr>
              <a:t>Popularity is a strong and consistent predictor of higher revenue.</a:t>
            </a:r>
            <a:endParaRPr sz="1500">
              <a:solidFill>
                <a:schemeClr val="accen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chemeClr val="accent1"/>
                </a:solidFill>
              </a:rPr>
              <a:t>Language diversification alone does not translate into commercial success and may dilute focus rather than expand market reach.</a:t>
            </a:r>
            <a:endParaRPr sz="15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accent1"/>
                </a:solidFill>
              </a:rPr>
              <a:t>Together, these results indicate that effective marketing and audience anticipation outweigh content localization in driving box office outcomes.</a:t>
            </a:r>
            <a:endParaRPr sz="15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94" name="Google Shape;594;p79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0" name="Google Shape;600;p80"/>
          <p:cNvSpPr txBox="1"/>
          <p:nvPr>
            <p:ph type="title"/>
          </p:nvPr>
        </p:nvSpPr>
        <p:spPr>
          <a:xfrm>
            <a:off x="2796300" y="362547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601" name="Google Shape;601;p80"/>
          <p:cNvSpPr txBox="1"/>
          <p:nvPr>
            <p:ph idx="1" type="subTitle"/>
          </p:nvPr>
        </p:nvSpPr>
        <p:spPr>
          <a:xfrm>
            <a:off x="322475" y="1288825"/>
            <a:ext cx="86067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Gowun Batang"/>
              <a:buChar char="●"/>
            </a:pPr>
            <a:r>
              <a:rPr lang="en" sz="1500">
                <a:solidFill>
                  <a:schemeClr val="accent1"/>
                </a:solidFill>
              </a:rPr>
              <a:t>Movie box office performance is driven by a combination of budget, release timing, production strategy, and audience engagement, rather than any single factor.</a:t>
            </a:r>
            <a:endParaRPr sz="1500">
              <a:solidFill>
                <a:schemeClr val="accen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Gowun Batang"/>
              <a:buChar char="●"/>
            </a:pPr>
            <a:r>
              <a:rPr lang="en" sz="1500">
                <a:solidFill>
                  <a:schemeClr val="accent1"/>
                </a:solidFill>
              </a:rPr>
              <a:t>Higher budgets generally lead to higher revenues, but profitability varies widely, indicating that budget alone is not a reliable predictor of success.</a:t>
            </a:r>
            <a:endParaRPr sz="1500">
              <a:solidFill>
                <a:schemeClr val="accen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Gowun Batang"/>
              <a:buChar char="●"/>
            </a:pPr>
            <a:r>
              <a:rPr lang="en" sz="1500">
                <a:solidFill>
                  <a:schemeClr val="accent1"/>
                </a:solidFill>
              </a:rPr>
              <a:t>Movies released during summer and holiday seasons consistently earn more revenue, highlighting the importance of strategic release timing.</a:t>
            </a:r>
            <a:endParaRPr sz="1500">
              <a:solidFill>
                <a:schemeClr val="accen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Gowun Batang"/>
              <a:buChar char="●"/>
            </a:pPr>
            <a:r>
              <a:rPr lang="en" sz="1500">
                <a:solidFill>
                  <a:schemeClr val="accent1"/>
                </a:solidFill>
              </a:rPr>
              <a:t>International co-productions, English-language films, and productions from major markets tend to dominate global revenue, reflecting the value of broader market reach.</a:t>
            </a:r>
            <a:endParaRPr sz="1500">
              <a:solidFill>
                <a:schemeClr val="accen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Gowun Batang"/>
              <a:buChar char="●"/>
            </a:pPr>
            <a:r>
              <a:rPr lang="en" sz="1500">
                <a:solidFill>
                  <a:schemeClr val="accent1"/>
                </a:solidFill>
              </a:rPr>
              <a:t>Audience engagement—measured through ratings, vote counts, popularity, and overall reception—shows a strong positive relationship with revenue.</a:t>
            </a:r>
            <a:endParaRPr sz="1500">
              <a:solidFill>
                <a:schemeClr val="accen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Gowun Batang"/>
              <a:buChar char="●"/>
            </a:pPr>
            <a:r>
              <a:rPr lang="en" sz="1500">
                <a:solidFill>
                  <a:schemeClr val="accent1"/>
                </a:solidFill>
              </a:rPr>
              <a:t>Overall, successful films align financial investment, global accessibility, and strong audience response, reinforcing the need for data-driven decision-making in the movie industry.</a:t>
            </a: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1"/>
          <p:cNvSpPr txBox="1"/>
          <p:nvPr>
            <p:ph type="title"/>
          </p:nvPr>
        </p:nvSpPr>
        <p:spPr>
          <a:xfrm>
            <a:off x="2796300" y="254947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  <p:sp>
        <p:nvSpPr>
          <p:cNvPr id="607" name="Google Shape;607;p81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81"/>
          <p:cNvSpPr txBox="1"/>
          <p:nvPr>
            <p:ph type="title"/>
          </p:nvPr>
        </p:nvSpPr>
        <p:spPr>
          <a:xfrm>
            <a:off x="1744050" y="1440075"/>
            <a:ext cx="56559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https://www.kaggle.com/datasets/mohammedalsubaie/movies?resource=download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82"/>
          <p:cNvSpPr txBox="1"/>
          <p:nvPr>
            <p:ph type="title"/>
          </p:nvPr>
        </p:nvSpPr>
        <p:spPr>
          <a:xfrm>
            <a:off x="2796300" y="254947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Tableau Link</a:t>
            </a:r>
            <a:endParaRPr/>
          </a:p>
        </p:txBody>
      </p:sp>
      <p:sp>
        <p:nvSpPr>
          <p:cNvPr id="614" name="Google Shape;614;p82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82"/>
          <p:cNvSpPr txBox="1"/>
          <p:nvPr>
            <p:ph type="title"/>
          </p:nvPr>
        </p:nvSpPr>
        <p:spPr>
          <a:xfrm>
            <a:off x="1744050" y="1901550"/>
            <a:ext cx="56559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https://public.tableau.com/app/profile/shrey.soni7744/viz/shared/K686Z563Y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83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83"/>
          <p:cNvSpPr txBox="1"/>
          <p:nvPr>
            <p:ph type="title"/>
          </p:nvPr>
        </p:nvSpPr>
        <p:spPr>
          <a:xfrm>
            <a:off x="3211650" y="1800725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622" name="Google Shape;622;p8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ortfolio">
  <a:themeElements>
    <a:clrScheme name="Simple Light">
      <a:dk1>
        <a:srgbClr val="133817"/>
      </a:dk1>
      <a:lt1>
        <a:srgbClr val="E9EBE8"/>
      </a:lt1>
      <a:dk2>
        <a:srgbClr val="C2C7C0"/>
      </a:dk2>
      <a:lt2>
        <a:srgbClr val="EE7630"/>
      </a:lt2>
      <a:accent1>
        <a:srgbClr val="000000"/>
      </a:accent1>
      <a:accent2>
        <a:srgbClr val="931F1D"/>
      </a:accent2>
      <a:accent3>
        <a:srgbClr val="4F7CAC"/>
      </a:accent3>
      <a:accent4>
        <a:srgbClr val="C287E8"/>
      </a:accent4>
      <a:accent5>
        <a:srgbClr val="563635"/>
      </a:accent5>
      <a:accent6>
        <a:srgbClr val="63A46C"/>
      </a:accent6>
      <a:hlink>
        <a:srgbClr val="B744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